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8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50" b="0" i="0" u="none" strike="noStrike">
                <a:solidFill>
                  <a:srgbClr val="14213D"/>
                </a:solidFill>
                <a:latin typeface="Arial"/>
              </a:defRPr>
            </a:pPr>
            <a:r>
              <a:rPr sz="1150" b="0" i="0" u="none" strike="noStrike">
                <a:solidFill>
                  <a:srgbClr val="14213D"/>
                </a:solidFill>
                <a:latin typeface="Arial"/>
              </a:rPr>
              <a:t>Besaran fraud kesehatan menurut sumber (Rp triliun)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Rp triliun</c:v>
                </c:pt>
              </c:strCache>
            </c:strRef>
          </c:tx>
          <c:spPr>
            <a:solidFill>
              <a:srgbClr val="14213D"/>
            </a:solidFill>
            <a:effectLst/>
          </c:spPr>
          <c:invertIfNegative val="0"/>
          <c:dLbls>
            <c:numFmt formatCode="&quot;Rp&quot;0.0&quot; T&quot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4213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B9A6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8912D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KPK 2024: potensi 10% (estimasi) [1][3]</c:v>
                  </c:pt>
                  <c:pt idx="1">
                    <c:v>BPJS Jan-Okt 2025: potensi dicegah, dideteksi, ditangani [4]</c:v>
                  </c:pt>
                  <c:pt idx="2">
                    <c:v>Dirut Jul 2026: perkiraan lisan [1]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6.8</c:v>
                </c:pt>
                <c:pt idx="2">
                  <c:v>6</c:v>
                </c:pt>
              </c:numCache>
            </c:numRef>
          </c:val>
        </c:ser>
        <c:dLbls>
          <c:numFmt formatCode="&quot;Rp&quot;0.0&quot; T&quot;" sourceLinked="0"/>
          <c:txPr>
            <a:bodyPr/>
            <a:lstStyle/>
            <a:p>
              <a:pPr>
                <a:defRPr b="1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50" b="0" i="0" u="none" strike="noStrike">
                <a:solidFill>
                  <a:srgbClr val="14213D"/>
                </a:solidFill>
                <a:latin typeface="Arial"/>
              </a:defRPr>
            </a:pPr>
            <a:r>
              <a:rPr sz="1150" b="0" i="0" u="none" strike="noStrike">
                <a:solidFill>
                  <a:srgbClr val="14213D"/>
                </a:solidFill>
                <a:latin typeface="Arial"/>
              </a:rPr>
              <a:t>Model akhir: Precision@K dan Recall@K (%)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Precision@K</c:v>
                </c:pt>
              </c:strCache>
            </c:strRef>
          </c:tx>
          <c:spPr>
            <a:solidFill>
              <a:srgbClr val="1B9A6E"/>
            </a:solidFill>
            <a:ln w="38100" cap="flat">
              <a:solidFill>
                <a:srgbClr val="1B9A6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1B9A6E"/>
              </a:solidFill>
              <a:ln w="9525" cap="flat">
                <a:solidFill>
                  <a:srgbClr val="1B9A6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50</c:v>
                  </c:pt>
                  <c:pt idx="1">
                    <c:v>100</c:v>
                  </c:pt>
                  <c:pt idx="2">
                    <c:v>200</c:v>
                  </c:pt>
                  <c:pt idx="3">
                    <c:v>300</c:v>
                  </c:pt>
                  <c:pt idx="4">
                    <c:v>400</c:v>
                  </c:pt>
                  <c:pt idx="5">
                    <c:v>600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100</c:v>
                </c:pt>
                <c:pt idx="1">
                  <c:v>100</c:v>
                </c:pt>
                <c:pt idx="2">
                  <c:v>99.5</c:v>
                </c:pt>
                <c:pt idx="3">
                  <c:v>93</c:v>
                </c:pt>
                <c:pt idx="4">
                  <c:v>94.5</c:v>
                </c:pt>
                <c:pt idx="5">
                  <c:v>88.7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Recall@K</c:v>
                </c:pt>
              </c:strCache>
            </c:strRef>
          </c:tx>
          <c:spPr>
            <a:solidFill>
              <a:srgbClr val="E8912D"/>
            </a:solidFill>
            <a:ln w="38100" cap="flat">
              <a:solidFill>
                <a:srgbClr val="E8912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E8912D"/>
              </a:solidFill>
              <a:ln w="9525" cap="flat">
                <a:solidFill>
                  <a:srgbClr val="E8912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50</c:v>
                  </c:pt>
                  <c:pt idx="1">
                    <c:v>100</c:v>
                  </c:pt>
                  <c:pt idx="2">
                    <c:v>200</c:v>
                  </c:pt>
                  <c:pt idx="3">
                    <c:v>300</c:v>
                  </c:pt>
                  <c:pt idx="4">
                    <c:v>400</c:v>
                  </c:pt>
                  <c:pt idx="5">
                    <c:v>600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9.3</c:v>
                </c:pt>
                <c:pt idx="1">
                  <c:v>18.5</c:v>
                </c:pt>
                <c:pt idx="2">
                  <c:v>36.9</c:v>
                </c:pt>
                <c:pt idx="3">
                  <c:v>51.7</c:v>
                </c:pt>
                <c:pt idx="4">
                  <c:v>70</c:v>
                </c:pt>
                <c:pt idx="5">
                  <c:v>98.5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900" b="0" i="0" u="none" strike="noStrike">
                    <a:solidFill>
                      <a:srgbClr val="000000"/>
                    </a:solidFill>
                    <a:latin typeface="Arial"/>
                  </a:rPr>
                  <a:t>K = jumlah kasus teratas yang ditelaah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6E0D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50" b="0" i="0" u="none" strike="noStrike">
                <a:solidFill>
                  <a:srgbClr val="14213D"/>
                </a:solidFill>
                <a:latin typeface="Arial"/>
              </a:defRPr>
            </a:pPr>
            <a:r>
              <a:rPr sz="1150" b="0" i="0" u="none" strike="noStrike">
                <a:solidFill>
                  <a:srgbClr val="14213D"/>
                </a:solidFill>
                <a:latin typeface="Arial"/>
              </a:rPr>
              <a:t>Recall per pola pada K=540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Recall</c:v>
                </c:pt>
              </c:strCache>
            </c:strRef>
          </c:tx>
          <c:spPr>
            <a:solidFill>
              <a:srgbClr val="1B9A6E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B9A6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B9A6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B9A6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8912D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P1 obat berulang</c:v>
                  </c:pt>
                  <c:pt idx="1">
                    <c:v>P2 kuantitas</c:v>
                  </c:pt>
                  <c:pt idx="2">
                    <c:v>P3 lab berulang</c:v>
                  </c:pt>
                  <c:pt idx="3">
                    <c:v>P4 identitas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83</c:v>
                </c:pt>
                <c:pt idx="2">
                  <c:v>100</c:v>
                </c:pt>
                <c:pt idx="3">
                  <c:v>71.3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6350" cap="flat">
              <a:solidFill>
                <a:srgbClr val="E6E0D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50" b="0" i="0" u="none" strike="noStrike">
                <a:solidFill>
                  <a:srgbClr val="14213D"/>
                </a:solidFill>
                <a:latin typeface="Arial"/>
              </a:defRPr>
            </a:pPr>
            <a:r>
              <a:rPr sz="1050" b="0" i="0" u="none" strike="noStrike">
                <a:solidFill>
                  <a:srgbClr val="14213D"/>
                </a:solidFill>
                <a:latin typeface="Arial"/>
              </a:rPr>
              <a:t>Laju flag kronis vs non-kronis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Sebelum</c:v>
                </c:pt>
              </c:strCache>
            </c:strRef>
          </c:tx>
          <c:spPr>
            <a:solidFill>
              <a:srgbClr val="E8912D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Kronis</c:v>
                  </c:pt>
                  <c:pt idx="1">
                    <c:v>Non-kronis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2.26</c:v>
                </c:pt>
                <c:pt idx="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Sesudah</c:v>
                </c:pt>
              </c:strCache>
            </c:strRef>
          </c:tx>
          <c:spPr>
            <a:solidFill>
              <a:srgbClr val="1B9A6E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Kronis</c:v>
                  </c:pt>
                  <c:pt idx="1">
                    <c:v>Non-kronis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1.1</c:v>
                </c:pt>
                <c:pt idx="1">
                  <c:v>0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50" b="0" i="0" u="none" strike="noStrike">
                <a:solidFill>
                  <a:srgbClr val="14213D"/>
                </a:solidFill>
                <a:latin typeface="Arial"/>
              </a:defRPr>
            </a:pPr>
            <a:r>
              <a:rPr sz="1050" b="0" i="0" u="none" strike="noStrike">
                <a:solidFill>
                  <a:srgbClr val="14213D"/>
                </a:solidFill>
                <a:latin typeface="Arial"/>
              </a:rPr>
              <a:t>Laju flag per wilayah (%) *minim faskes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Sebelum</c:v>
                </c:pt>
              </c:strCache>
            </c:strRef>
          </c:tx>
          <c:spPr>
            <a:solidFill>
              <a:srgbClr val="E8912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W0</c:v>
                  </c:pt>
                  <c:pt idx="1">
                    <c:v>W1</c:v>
                  </c:pt>
                  <c:pt idx="2">
                    <c:v>W2</c:v>
                  </c:pt>
                  <c:pt idx="3">
                    <c:v>W3*</c:v>
                  </c:pt>
                  <c:pt idx="4">
                    <c:v>W4*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0.38</c:v>
                </c:pt>
                <c:pt idx="1">
                  <c:v>0.54</c:v>
                </c:pt>
                <c:pt idx="2">
                  <c:v>0.39</c:v>
                </c:pt>
                <c:pt idx="3">
                  <c:v>0.35</c:v>
                </c:pt>
                <c:pt idx="4">
                  <c:v>0.43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Sesudah</c:v>
                </c:pt>
              </c:strCache>
            </c:strRef>
          </c:tx>
          <c:spPr>
            <a:solidFill>
              <a:srgbClr val="1B9A6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W0</c:v>
                  </c:pt>
                  <c:pt idx="1">
                    <c:v>W1</c:v>
                  </c:pt>
                  <c:pt idx="2">
                    <c:v>W2</c:v>
                  </c:pt>
                  <c:pt idx="3">
                    <c:v>W3*</c:v>
                  </c:pt>
                  <c:pt idx="4">
                    <c:v>W4*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0.13</c:v>
                </c:pt>
                <c:pt idx="1">
                  <c:v>0.35</c:v>
                </c:pt>
                <c:pt idx="2">
                  <c:v>0.21</c:v>
                </c:pt>
                <c:pt idx="3">
                  <c:v>0.18</c:v>
                </c:pt>
                <c:pt idx="4">
                  <c:v>0.12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6E0D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50" b="0" i="0" u="none" strike="noStrike">
                <a:solidFill>
                  <a:srgbClr val="14213D"/>
                </a:solidFill>
                <a:latin typeface="Arial"/>
              </a:defRPr>
            </a:pPr>
            <a:r>
              <a:rPr sz="1150" b="0" i="0" u="none" strike="noStrike">
                <a:solidFill>
                  <a:srgbClr val="14213D"/>
                </a:solidFill>
                <a:latin typeface="Arial"/>
              </a:rPr>
              <a:t>Hard-stop vs Sentinel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Hard-stop (blokir)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Presisi</c:v>
                  </c:pt>
                  <c:pt idx="1">
                    <c:v>Recall</c:v>
                  </c:pt>
                  <c:pt idx="2">
                    <c:v>Pasien sah terkena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22.3</c:v>
                </c:pt>
                <c:pt idx="1">
                  <c:v>38</c:v>
                </c:pt>
                <c:pt idx="2">
                  <c:v>93.17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Sentinel (top-540)</c:v>
                </c:pt>
              </c:strCache>
            </c:strRef>
          </c:tx>
          <c:spPr>
            <a:solidFill>
              <a:srgbClr val="1B9A6E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Presisi</c:v>
                  </c:pt>
                  <c:pt idx="1">
                    <c:v>Recall</c:v>
                  </c:pt>
                  <c:pt idx="2">
                    <c:v>Pasien sah terkena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92.6</c:v>
                </c:pt>
                <c:pt idx="1">
                  <c:v>92.6</c:v>
                </c:pt>
                <c:pt idx="2">
                  <c:v>6.5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6E0D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4213D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4213D"/>
                </a:solidFill>
                <a:latin typeface="Arial"/>
              </a:rPr>
              <a:t>Presisi (K = jumlah fraud) vs prevalensi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Presisi</c:v>
                </c:pt>
              </c:strCache>
            </c:strRef>
          </c:tx>
          <c:spPr>
            <a:solidFill>
              <a:srgbClr val="1B9A6E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B9A6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8912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2,7%</c:v>
                  </c:pt>
                  <c:pt idx="1">
                    <c:v>1%</c:v>
                  </c:pt>
                  <c:pt idx="2">
                    <c:v>0,5%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93.5</c:v>
                </c:pt>
                <c:pt idx="1">
                  <c:v>85.7</c:v>
                </c:pt>
                <c:pt idx="2">
                  <c:v>71.1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85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850" b="0" i="0" u="none" strike="noStrike">
                    <a:solidFill>
                      <a:srgbClr val="000000"/>
                    </a:solidFill>
                    <a:latin typeface="Arial"/>
                  </a:rPr>
                  <a:t>Prevalensi fraud dalam populasi uji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6E0D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50" b="0" i="0" u="none" strike="noStrike">
                <a:solidFill>
                  <a:srgbClr val="14213D"/>
                </a:solidFill>
                <a:latin typeface="Arial"/>
              </a:defRPr>
            </a:pPr>
            <a:r>
              <a:rPr sz="1150" b="0" i="0" u="none" strike="noStrike">
                <a:solidFill>
                  <a:srgbClr val="14213D"/>
                </a:solidFill>
                <a:latin typeface="Arial"/>
              </a:rPr>
              <a:t>Presisi minimum agar impas (%)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Biaya telaah Rp0.1 jt/kasus</c:v>
                </c:pt>
              </c:strCache>
            </c:strRef>
          </c:tx>
          <c:spPr>
            <a:solidFill>
              <a:srgbClr val="1B9A6E"/>
            </a:solidFill>
            <a:ln w="31750" cap="flat">
              <a:solidFill>
                <a:srgbClr val="1B9A6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B9A6E"/>
              </a:solidFill>
              <a:ln w="9525" cap="flat">
                <a:solidFill>
                  <a:srgbClr val="1B9A6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0.2</c:v>
                  </c:pt>
                  <c:pt idx="1">
                    <c:v>0.4</c:v>
                  </c:pt>
                  <c:pt idx="2">
                    <c:v>0.6</c:v>
                  </c:pt>
                  <c:pt idx="3">
                    <c:v>0.8</c:v>
                  </c:pt>
                  <c:pt idx="4">
                    <c:v>1.0</c:v>
                  </c:pt>
                  <c:pt idx="5">
                    <c:v>1.2</c:v>
                  </c:pt>
                  <c:pt idx="6">
                    <c:v>1.4</c:v>
                  </c:pt>
                  <c:pt idx="7">
                    <c:v>1.6</c:v>
                  </c:pt>
                  <c:pt idx="8">
                    <c:v>1.8</c:v>
                  </c:pt>
                  <c:pt idx="9">
                    <c:v>2.0</c:v>
                  </c:pt>
                  <c:pt idx="10">
                    <c:v>2.2</c:v>
                  </c:pt>
                  <c:pt idx="11">
                    <c:v>2.4</c:v>
                  </c:pt>
                  <c:pt idx="12">
                    <c:v>2.6</c:v>
                  </c:pt>
                  <c:pt idx="13">
                    <c:v>2.8</c:v>
                  </c:pt>
                  <c:pt idx="14">
                    <c:v>3.0</c:v>
                  </c:pt>
                  <c:pt idx="15">
                    <c:v>3.2</c:v>
                  </c:pt>
                  <c:pt idx="16">
                    <c:v>3.4</c:v>
                  </c:pt>
                  <c:pt idx="17">
                    <c:v>3.6</c:v>
                  </c:pt>
                  <c:pt idx="18">
                    <c:v>3.8</c:v>
                  </c:pt>
                  <c:pt idx="19">
                    <c:v>4.0</c:v>
                  </c:pt>
                </c:lvl>
              </c:multiLvlStrCache>
            </c:multiLvl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50</c:v>
                </c:pt>
                <c:pt idx="1">
                  <c:v>25</c:v>
                </c:pt>
                <c:pt idx="2">
                  <c:v>16.7</c:v>
                </c:pt>
                <c:pt idx="3">
                  <c:v>12.5</c:v>
                </c:pt>
                <c:pt idx="4">
                  <c:v>10</c:v>
                </c:pt>
                <c:pt idx="5">
                  <c:v>8.3</c:v>
                </c:pt>
                <c:pt idx="6">
                  <c:v>7.1</c:v>
                </c:pt>
                <c:pt idx="7">
                  <c:v>6.3</c:v>
                </c:pt>
                <c:pt idx="8">
                  <c:v>5.6</c:v>
                </c:pt>
                <c:pt idx="9">
                  <c:v>5</c:v>
                </c:pt>
                <c:pt idx="10">
                  <c:v>4.5</c:v>
                </c:pt>
                <c:pt idx="11">
                  <c:v>4.2</c:v>
                </c:pt>
                <c:pt idx="12">
                  <c:v>3.8</c:v>
                </c:pt>
                <c:pt idx="13">
                  <c:v>3.6</c:v>
                </c:pt>
                <c:pt idx="14">
                  <c:v>3.3</c:v>
                </c:pt>
                <c:pt idx="15">
                  <c:v>3.1</c:v>
                </c:pt>
                <c:pt idx="16">
                  <c:v>2.9</c:v>
                </c:pt>
                <c:pt idx="17">
                  <c:v>2.8</c:v>
                </c:pt>
                <c:pt idx="18">
                  <c:v>2.6</c:v>
                </c:pt>
                <c:pt idx="19">
                  <c:v>2.5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Biaya telaah Rp0.25 jt/kasus</c:v>
                </c:pt>
              </c:strCache>
            </c:strRef>
          </c:tx>
          <c:spPr>
            <a:solidFill>
              <a:srgbClr val="E8912D"/>
            </a:solidFill>
            <a:ln w="31750" cap="flat">
              <a:solidFill>
                <a:srgbClr val="E8912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8912D"/>
              </a:solidFill>
              <a:ln w="9525" cap="flat">
                <a:solidFill>
                  <a:srgbClr val="E8912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0.2</c:v>
                  </c:pt>
                  <c:pt idx="1">
                    <c:v>0.4</c:v>
                  </c:pt>
                  <c:pt idx="2">
                    <c:v>0.6</c:v>
                  </c:pt>
                  <c:pt idx="3">
                    <c:v>0.8</c:v>
                  </c:pt>
                  <c:pt idx="4">
                    <c:v>1.0</c:v>
                  </c:pt>
                  <c:pt idx="5">
                    <c:v>1.2</c:v>
                  </c:pt>
                  <c:pt idx="6">
                    <c:v>1.4</c:v>
                  </c:pt>
                  <c:pt idx="7">
                    <c:v>1.6</c:v>
                  </c:pt>
                  <c:pt idx="8">
                    <c:v>1.8</c:v>
                  </c:pt>
                  <c:pt idx="9">
                    <c:v>2.0</c:v>
                  </c:pt>
                  <c:pt idx="10">
                    <c:v>2.2</c:v>
                  </c:pt>
                  <c:pt idx="11">
                    <c:v>2.4</c:v>
                  </c:pt>
                  <c:pt idx="12">
                    <c:v>2.6</c:v>
                  </c:pt>
                  <c:pt idx="13">
                    <c:v>2.8</c:v>
                  </c:pt>
                  <c:pt idx="14">
                    <c:v>3.0</c:v>
                  </c:pt>
                  <c:pt idx="15">
                    <c:v>3.2</c:v>
                  </c:pt>
                  <c:pt idx="16">
                    <c:v>3.4</c:v>
                  </c:pt>
                  <c:pt idx="17">
                    <c:v>3.6</c:v>
                  </c:pt>
                  <c:pt idx="18">
                    <c:v>3.8</c:v>
                  </c:pt>
                  <c:pt idx="19">
                    <c:v>4.0</c:v>
                  </c:pt>
                </c:lvl>
              </c:multiLvlStrCache>
            </c:multiLvlStrRef>
          </c:cat>
          <c:val>
            <c:numRef>
              <c:f>Sheet1!$C$2:$C$21</c:f>
              <c:numCache>
                <c:formatCode>General</c:formatCode>
                <c:ptCount val="20"/>
                <c:pt idx="0">
                  <c:v>100</c:v>
                </c:pt>
                <c:pt idx="1">
                  <c:v>62.5</c:v>
                </c:pt>
                <c:pt idx="2">
                  <c:v>41.7</c:v>
                </c:pt>
                <c:pt idx="3">
                  <c:v>31.3</c:v>
                </c:pt>
                <c:pt idx="4">
                  <c:v>25</c:v>
                </c:pt>
                <c:pt idx="5">
                  <c:v>20.8</c:v>
                </c:pt>
                <c:pt idx="6">
                  <c:v>17.9</c:v>
                </c:pt>
                <c:pt idx="7">
                  <c:v>15.6</c:v>
                </c:pt>
                <c:pt idx="8">
                  <c:v>13.9</c:v>
                </c:pt>
                <c:pt idx="9">
                  <c:v>12.5</c:v>
                </c:pt>
                <c:pt idx="10">
                  <c:v>11.4</c:v>
                </c:pt>
                <c:pt idx="11">
                  <c:v>10.4</c:v>
                </c:pt>
                <c:pt idx="12">
                  <c:v>9.6</c:v>
                </c:pt>
                <c:pt idx="13">
                  <c:v>8.9</c:v>
                </c:pt>
                <c:pt idx="14">
                  <c:v>8.3</c:v>
                </c:pt>
                <c:pt idx="15">
                  <c:v>7.8</c:v>
                </c:pt>
                <c:pt idx="16">
                  <c:v>7.4</c:v>
                </c:pt>
                <c:pt idx="17">
                  <c:v>6.9</c:v>
                </c:pt>
                <c:pt idx="18">
                  <c:v>6.6</c:v>
                </c:pt>
                <c:pt idx="19">
                  <c:v>6.3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Biaya telaah Rp0.5 jt/kasus</c:v>
                </c:pt>
              </c:strCache>
            </c:strRef>
          </c:tx>
          <c:spPr>
            <a:solidFill>
              <a:srgbClr val="14213D"/>
            </a:solidFill>
            <a:ln w="31750" cap="flat">
              <a:solidFill>
                <a:srgbClr val="14213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4213D"/>
              </a:solidFill>
              <a:ln w="9525" cap="flat">
                <a:solidFill>
                  <a:srgbClr val="14213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0.2</c:v>
                  </c:pt>
                  <c:pt idx="1">
                    <c:v>0.4</c:v>
                  </c:pt>
                  <c:pt idx="2">
                    <c:v>0.6</c:v>
                  </c:pt>
                  <c:pt idx="3">
                    <c:v>0.8</c:v>
                  </c:pt>
                  <c:pt idx="4">
                    <c:v>1.0</c:v>
                  </c:pt>
                  <c:pt idx="5">
                    <c:v>1.2</c:v>
                  </c:pt>
                  <c:pt idx="6">
                    <c:v>1.4</c:v>
                  </c:pt>
                  <c:pt idx="7">
                    <c:v>1.6</c:v>
                  </c:pt>
                  <c:pt idx="8">
                    <c:v>1.8</c:v>
                  </c:pt>
                  <c:pt idx="9">
                    <c:v>2.0</c:v>
                  </c:pt>
                  <c:pt idx="10">
                    <c:v>2.2</c:v>
                  </c:pt>
                  <c:pt idx="11">
                    <c:v>2.4</c:v>
                  </c:pt>
                  <c:pt idx="12">
                    <c:v>2.6</c:v>
                  </c:pt>
                  <c:pt idx="13">
                    <c:v>2.8</c:v>
                  </c:pt>
                  <c:pt idx="14">
                    <c:v>3.0</c:v>
                  </c:pt>
                  <c:pt idx="15">
                    <c:v>3.2</c:v>
                  </c:pt>
                  <c:pt idx="16">
                    <c:v>3.4</c:v>
                  </c:pt>
                  <c:pt idx="17">
                    <c:v>3.6</c:v>
                  </c:pt>
                  <c:pt idx="18">
                    <c:v>3.8</c:v>
                  </c:pt>
                  <c:pt idx="19">
                    <c:v>4.0</c:v>
                  </c:pt>
                </c:lvl>
              </c:multiLvlStrCache>
            </c:multiLvlStrRef>
          </c:cat>
          <c:val>
            <c:numRef>
              <c:f>Sheet1!$D$2:$D$21</c:f>
              <c:numCache>
                <c:formatCode>General</c:formatCode>
                <c:ptCount val="20"/>
                <c:pt idx="0">
                  <c:v>100</c:v>
                </c:pt>
                <c:pt idx="1">
                  <c:v>100</c:v>
                </c:pt>
                <c:pt idx="2">
                  <c:v>83.3</c:v>
                </c:pt>
                <c:pt idx="3">
                  <c:v>62.5</c:v>
                </c:pt>
                <c:pt idx="4">
                  <c:v>50</c:v>
                </c:pt>
                <c:pt idx="5">
                  <c:v>41.7</c:v>
                </c:pt>
                <c:pt idx="6">
                  <c:v>35.7</c:v>
                </c:pt>
                <c:pt idx="7">
                  <c:v>31.3</c:v>
                </c:pt>
                <c:pt idx="8">
                  <c:v>27.8</c:v>
                </c:pt>
                <c:pt idx="9">
                  <c:v>25</c:v>
                </c:pt>
                <c:pt idx="10">
                  <c:v>22.7</c:v>
                </c:pt>
                <c:pt idx="11">
                  <c:v>20.8</c:v>
                </c:pt>
                <c:pt idx="12">
                  <c:v>19.2</c:v>
                </c:pt>
                <c:pt idx="13">
                  <c:v>17.9</c:v>
                </c:pt>
                <c:pt idx="14">
                  <c:v>16.7</c:v>
                </c:pt>
                <c:pt idx="15">
                  <c:v>15.6</c:v>
                </c:pt>
                <c:pt idx="16">
                  <c:v>14.7</c:v>
                </c:pt>
                <c:pt idx="17">
                  <c:v>13.9</c:v>
                </c:pt>
                <c:pt idx="18">
                  <c:v>13.2</c:v>
                </c:pt>
                <c:pt idx="19">
                  <c:v>12.5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85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850" b="0" i="0" u="none" strike="noStrike">
                    <a:solidFill>
                      <a:srgbClr val="000000"/>
                    </a:solidFill>
                    <a:latin typeface="Arial"/>
                  </a:rPr>
                  <a:t>Kerugian rata-rata per kasus terkonfirmasi (Rp juta; parameter ilustrasi)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6E0D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Pertanyaan juri: apakah model diskriminatif? Jawab: kami mengukurnya per segmen, menemukan pasien kronis ter-flag lebih sering (2,26% vs 0%), memperbaiki dengan normalisasi skor per kelompok, dan mengukur ulang (1,1%). Keterbatasan: data sintetis; selisih belum nol.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Keterbatasan yang harus diakui: decoy dirancang tim sebagai pasien sah dengan 2 faskes dalam 30 hari; seberapa sering pola ini terjadi di dunia nyata belum diketahui, jadi angka 93,2% adalah hasil pada desain uji ini, bukan klaim umum. Argumen utamanya tetap hukum: Permenkes 16/2019 Pasal 6 ayat 6 mewajibkan sanksi mempertimbangkan keberlangsungan pelayanan.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B9A6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8463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JKN Sentinel | Healthkathon 2026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chart" Target="/ppt/charts/chart7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EE0BE"/>
                </a:solidFill>
              </a:rPr>
              <a:t>HEALTHKATHON 2026  |  DETECT SMARTER, PROTECT JKN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JKN Sentinel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87452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Antrean kasus berprioritas dari pola utilisasi lintas faskes. Setiap flag disertai alasan; keputusan akhir tetap di manusia.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7889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EE0BE"/>
                </a:solidFill>
              </a:rPr>
              <a:t>KATEGORI  Efisiensi Risiko Peserta JKN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3154680"/>
            <a:ext cx="2103120" cy="365760"/>
          </a:xfrm>
          <a:prstGeom prst="roundRect">
            <a:avLst>
              <a:gd name="adj" fmla="val 15000"/>
            </a:avLst>
          </a:prstGeom>
          <a:solidFill>
            <a:srgbClr val="1B9A6E"/>
          </a:solidFill>
          <a:ln w="12700">
            <a:solidFill>
              <a:srgbClr val="1B9A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3154680"/>
            <a:ext cx="210312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Penyalahgunaan Identitas Peserta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697480" y="3154680"/>
            <a:ext cx="2103120" cy="365760"/>
          </a:xfrm>
          <a:prstGeom prst="roundRect">
            <a:avLst>
              <a:gd name="adj" fmla="val 15000"/>
            </a:avLst>
          </a:prstGeom>
          <a:solidFill>
            <a:srgbClr val="1B9A6E"/>
          </a:solidFill>
          <a:ln w="12700">
            <a:solidFill>
              <a:srgbClr val="1B9A6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697480" y="3154680"/>
            <a:ext cx="210312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Pelayanan yang Tidak Perlu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937760" y="3154680"/>
            <a:ext cx="2103120" cy="365760"/>
          </a:xfrm>
          <a:prstGeom prst="roundRect">
            <a:avLst>
              <a:gd name="adj" fmla="val 15000"/>
            </a:avLst>
          </a:prstGeom>
          <a:solidFill>
            <a:srgbClr val="1B9A6E"/>
          </a:solidFill>
          <a:ln w="12700">
            <a:solidFill>
              <a:srgbClr val="1B9A6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937760" y="3154680"/>
            <a:ext cx="210312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Penyalahgunaan Obat/Alkes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3977640"/>
            <a:ext cx="502920" cy="502920"/>
          </a:xfrm>
          <a:prstGeom prst="ellipse">
            <a:avLst/>
          </a:prstGeom>
          <a:solidFill>
            <a:srgbClr val="1B9A6E"/>
          </a:solidFill>
          <a:ln w="12700">
            <a:solidFill>
              <a:srgbClr val="1B9A6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F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3959352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Fayad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8EE0BE"/>
                </a:solidFill>
              </a:rPr>
              <a:t>Product Owner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697480" y="3977640"/>
            <a:ext cx="502920" cy="502920"/>
          </a:xfrm>
          <a:prstGeom prst="ellipse">
            <a:avLst/>
          </a:prstGeom>
          <a:solidFill>
            <a:srgbClr val="1B9A6E"/>
          </a:solidFill>
          <a:ln w="12700">
            <a:solidFill>
              <a:srgbClr val="1B9A6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69748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N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3291840" y="3959352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Nabil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8EE0BE"/>
                </a:solidFill>
              </a:rPr>
              <a:t>Fullstack Engineer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937760" y="3977640"/>
            <a:ext cx="502920" cy="502920"/>
          </a:xfrm>
          <a:prstGeom prst="ellipse">
            <a:avLst/>
          </a:prstGeom>
          <a:solidFill>
            <a:srgbClr val="1B9A6E"/>
          </a:solidFill>
          <a:ln w="12700">
            <a:solidFill>
              <a:srgbClr val="1B9A6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93776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R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5532120" y="3959352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Revan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8EE0BE"/>
                </a:solidFill>
              </a:rPr>
              <a:t>AI Engineer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315200" y="822960"/>
            <a:ext cx="201168" cy="201168"/>
          </a:xfrm>
          <a:prstGeom prst="ellipse">
            <a:avLst/>
          </a:prstGeom>
          <a:solidFill>
            <a:srgbClr val="8EE0BE"/>
          </a:solidFill>
          <a:ln w="12700">
            <a:solidFill>
              <a:srgbClr val="8EE0B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29600" y="1554480"/>
            <a:ext cx="201168" cy="201168"/>
          </a:xfrm>
          <a:prstGeom prst="ellipse">
            <a:avLst/>
          </a:prstGeom>
          <a:solidFill>
            <a:srgbClr val="8EE0BE"/>
          </a:solidFill>
          <a:ln w="12700">
            <a:solidFill>
              <a:srgbClr val="8EE0B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66560" y="2286000"/>
            <a:ext cx="201168" cy="201168"/>
          </a:xfrm>
          <a:prstGeom prst="ellipse">
            <a:avLst/>
          </a:prstGeom>
          <a:solidFill>
            <a:srgbClr val="8EE0BE"/>
          </a:solidFill>
          <a:ln w="12700">
            <a:solidFill>
              <a:srgbClr val="8EE0B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863840" y="2926080"/>
            <a:ext cx="201168" cy="201168"/>
          </a:xfrm>
          <a:prstGeom prst="ellipse">
            <a:avLst/>
          </a:prstGeom>
          <a:solidFill>
            <a:srgbClr val="8EE0BE"/>
          </a:solidFill>
          <a:ln w="12700">
            <a:solidFill>
              <a:srgbClr val="8EE0B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503920" y="365760"/>
            <a:ext cx="201168" cy="201168"/>
          </a:xfrm>
          <a:prstGeom prst="ellipse">
            <a:avLst/>
          </a:prstGeom>
          <a:solidFill>
            <a:srgbClr val="8EE0BE"/>
          </a:solidFill>
          <a:ln w="12700">
            <a:solidFill>
              <a:srgbClr val="8EE0BE"/>
            </a:solidFill>
            <a:prstDash val="solid"/>
          </a:ln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1097280"/>
            <a:ext cx="1188720" cy="11887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645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9A6E"/>
                </a:solidFill>
              </a:rPr>
              <a:t>RINGKASAN 30 DETIK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38404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</a:rPr>
              <a:t>Deteksi lintas faskes, keputusan tetap di manusia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201168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6E0D0"/>
            </a:solidFill>
            <a:prstDash val="solid"/>
          </a:ln>
          <a:effectLst>
            <a:outerShdw sx="100000" sy="100000" kx="0" ky="0" algn="bl" rotWithShape="0" blurRad="50800" dist="19050" dir="5400000">
              <a:srgbClr val="CFC8B6">
                <a:alpha val="5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371600"/>
            <a:ext cx="2011680" cy="320040"/>
          </a:xfrm>
          <a:prstGeom prst="roundRect">
            <a:avLst>
              <a:gd name="adj" fmla="val 17143"/>
            </a:avLst>
          </a:prstGeom>
          <a:solidFill>
            <a:srgbClr val="1B9A6E"/>
          </a:solidFill>
          <a:ln w="12700">
            <a:solidFill>
              <a:srgbClr val="1B9A6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65760" y="1371600"/>
            <a:ext cx="201168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MASALAH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29968" y="1408176"/>
            <a:ext cx="246888" cy="24688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475488" y="1755648"/>
            <a:ext cx="179222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</a:rPr>
              <a:t>Potensi fraud kesehatan diperkirakan hingga Rp20 T (estimasi KPK 2024) [1][3]. Di sisi peserta: kartu dipinjamkan, layanan dan obat diambil di luar kebutuhan.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514600" y="1371600"/>
            <a:ext cx="201168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6E0D0"/>
            </a:solidFill>
            <a:prstDash val="solid"/>
          </a:ln>
          <a:effectLst>
            <a:outerShdw sx="100000" sy="100000" kx="0" ky="0" algn="bl" rotWithShape="0" blurRad="50800" dist="19050" dir="5400000">
              <a:srgbClr val="CFC8B6">
                <a:alpha val="5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514600" y="1371600"/>
            <a:ext cx="2011680" cy="320040"/>
          </a:xfrm>
          <a:prstGeom prst="roundRect">
            <a:avLst>
              <a:gd name="adj" fmla="val 17143"/>
            </a:avLst>
          </a:prstGeom>
          <a:solidFill>
            <a:srgbClr val="1B9A6E"/>
          </a:solidFill>
          <a:ln w="12700">
            <a:solidFill>
              <a:srgbClr val="1B9A6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514600" y="1371600"/>
            <a:ext cx="201168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CELAH</a:t>
            </a:r>
            <a:endParaRPr lang="en-US" sz="11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8808" y="1408176"/>
            <a:ext cx="246888" cy="24688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624328" y="1755648"/>
            <a:ext cx="179222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</a:rPr>
              <a:t>Sidik jari dan face recognition menjaga pintu faskes [7]. Tiap faskes tetap hanya melihat riwayatnya sendiri; laporan deteksi rutin per semester [8].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4663440" y="1371600"/>
            <a:ext cx="201168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6E0D0"/>
            </a:solidFill>
            <a:prstDash val="solid"/>
          </a:ln>
          <a:effectLst>
            <a:outerShdw sx="100000" sy="100000" kx="0" ky="0" algn="bl" rotWithShape="0" blurRad="50800" dist="19050" dir="5400000">
              <a:srgbClr val="CFC8B6">
                <a:alpha val="5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663440" y="1371600"/>
            <a:ext cx="2011680" cy="320040"/>
          </a:xfrm>
          <a:prstGeom prst="roundRect">
            <a:avLst>
              <a:gd name="adj" fmla="val 17143"/>
            </a:avLst>
          </a:prstGeom>
          <a:solidFill>
            <a:srgbClr val="1B9A6E"/>
          </a:solidFill>
          <a:ln w="12700">
            <a:solidFill>
              <a:srgbClr val="1B9A6E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4663440" y="1371600"/>
            <a:ext cx="201168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SOLUSI</a:t>
            </a:r>
            <a:endParaRPr lang="en-US" sz="11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7648" y="1408176"/>
            <a:ext cx="246888" cy="24688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4773168" y="1755648"/>
            <a:ext cx="179222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</a:rPr>
              <a:t>Sentinel menggabungkan riwayat lintas faskes, menyusun antrean kasus berprioritas dengan alasan, lalu menyerahkannya ke manusia.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812280" y="1371600"/>
            <a:ext cx="201168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6E0D0"/>
            </a:solidFill>
            <a:prstDash val="solid"/>
          </a:ln>
          <a:effectLst>
            <a:outerShdw sx="100000" sy="100000" kx="0" ky="0" algn="bl" rotWithShape="0" blurRad="50800" dist="19050" dir="5400000">
              <a:srgbClr val="CFC8B6">
                <a:alpha val="5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812280" y="1371600"/>
            <a:ext cx="2011680" cy="320040"/>
          </a:xfrm>
          <a:prstGeom prst="roundRect">
            <a:avLst>
              <a:gd name="adj" fmla="val 17143"/>
            </a:avLst>
          </a:prstGeom>
          <a:solidFill>
            <a:srgbClr val="1B9A6E"/>
          </a:solidFill>
          <a:ln w="12700">
            <a:solidFill>
              <a:srgbClr val="1B9A6E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6812280" y="1371600"/>
            <a:ext cx="201168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BUKTI</a:t>
            </a:r>
            <a:endParaRPr lang="en-US" sz="110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6488" y="1408176"/>
            <a:ext cx="246888" cy="246888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6922008" y="1755648"/>
            <a:ext cx="179222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</a:rPr>
              <a:t>Prototype pada 20.000 peserta sintetis: precision@100 = 100%, recall@540 = 92.6%. Hard-stop justru memblokir 93.17% pasien sah uji. Data sintetis, bukan klaim dunia nyata.</a:t>
            </a:r>
            <a:endParaRPr lang="en-US" sz="1050" dirty="0"/>
          </a:p>
        </p:txBody>
      </p:sp>
      <p:sp>
        <p:nvSpPr>
          <p:cNvPr id="24" name="card Pilihan desain yang bisa dipertanggungjawabkan"/>
          <p:cNvSpPr/>
          <p:nvPr/>
        </p:nvSpPr>
        <p:spPr>
          <a:xfrm>
            <a:off x="365760" y="3291840"/>
            <a:ext cx="841248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6E0D0"/>
            </a:solidFill>
            <a:prstDash val="solid"/>
          </a:ln>
          <a:effectLst>
            <a:outerShdw sx="100000" sy="100000" kx="0" ky="0" algn="bl" rotWithShape="0" blurRad="50800" dist="19050" dir="5400000">
              <a:srgbClr val="CFC8B6">
                <a:alpha val="5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65760" y="3291840"/>
            <a:ext cx="54864" cy="1417320"/>
          </a:xfrm>
          <a:prstGeom prst="rect">
            <a:avLst/>
          </a:prstGeom>
          <a:solidFill>
            <a:srgbClr val="1B9A6E"/>
          </a:solidFill>
          <a:ln w="12700">
            <a:solidFill>
              <a:srgbClr val="1B9A6E"/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548640" y="336499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</a:rPr>
              <a:t>Pilihan desain yang bisa dipertanggungjawabkan</a:t>
            </a:r>
            <a:endParaRPr lang="en-US" sz="1300" dirty="0"/>
          </a:p>
        </p:txBody>
      </p:sp>
      <p:sp>
        <p:nvSpPr>
          <p:cNvPr id="27" name="Text 21"/>
          <p:cNvSpPr txBox="1"/>
          <p:nvPr/>
        </p:nvSpPr>
        <p:spPr>
          <a:xfrm>
            <a:off x="548640" y="3675888"/>
            <a:ext cx="8092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</a:rPr>
              <a:t>Tidak memblokir pelayanan: sanksi administratif dalam Permenkes 16/2019 berupa teguran dan perintah pengembalian kerugian (Pasal 6 ayat 2), dan denda atau pencabutan izin wajib mempertimbangkan keberlangsungan pelayanan bagi peserta (ayat 6) [8]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</a:rPr>
              <a:t>Keluaran mengikuti format laporan deteksi resmi: waktu, tempat, pelaku, jumlah, potensi kerugian, sumber, kronologi [8]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</a:rPr>
              <a:t>Rules + anomaly detection: dapat dijelaskan, tidak membutuhkan label fraud yang belum tersedia secara sah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645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9A6E"/>
                </a:solidFill>
              </a:rPr>
              <a:t>BAGIAN 2 | MASALAH &amp; URGENSI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38404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</a:rPr>
              <a:t>Dana besar, kebocoran sulit terlihat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89611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0"/>
                </a:solidFill>
              </a:rPr>
              <a:t>Besaran fraud kesehatan berbeda antar sumber dan mencakup semua pelaku. Rp20 T adalah estimasi potensi; BPJS menyatakan angka itu tidak seluruhnya merujuk Program JKN [3].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4206240" cy="3337560"/>
          </a:xfrm>
          <a:prstGeom prst="rect">
            <a:avLst/>
          </a:prstGeom>
          <a:solidFill>
            <a:srgbClr val="FFFFFF"/>
          </a:solidFill>
          <a:ln w="6350">
            <a:solidFill>
              <a:srgbClr val="E6E0D0"/>
            </a:solidFill>
            <a:prstDash val="solid"/>
          </a:ln>
          <a:effectLst>
            <a:outerShdw sx="100000" sy="100000" kx="0" ky="0" algn="bl" rotWithShape="0" blurRad="50800" dist="19050" dir="5400000">
              <a:srgbClr val="CFC8B6">
                <a:alpha val="50000"/>
              </a:srgbClr>
            </a:outerShdw>
          </a:effectLst>
        </p:spPr>
      </p:sp>
      <p:graphicFrame>
        <p:nvGraphicFramePr>
          <p:cNvPr id="6" name="Chart 0" descr=""/>
          <p:cNvGraphicFramePr/>
          <p:nvPr/>
        </p:nvGraphicFramePr>
        <p:xfrm>
          <a:off x="411480" y="1417320"/>
          <a:ext cx="411480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4754880" y="1371600"/>
            <a:ext cx="2011680" cy="91440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892040" y="144475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EE0BE"/>
                </a:solidFill>
              </a:rPr>
              <a:t>286 jt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4892040" y="190195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peserta JKN [2]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858000" y="1371600"/>
            <a:ext cx="1920240" cy="91440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995160" y="144475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EE0BE"/>
                </a:solidFill>
              </a:rPr>
              <a:t>Rp190 T</a:t>
            </a:r>
            <a:endParaRPr lang="en-US" sz="2600" dirty="0"/>
          </a:p>
        </p:txBody>
      </p:sp>
      <p:sp>
        <p:nvSpPr>
          <p:cNvPr id="12" name="Text 9"/>
          <p:cNvSpPr txBox="1"/>
          <p:nvPr/>
        </p:nvSpPr>
        <p:spPr>
          <a:xfrm>
            <a:off x="6995160" y="190195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iuran dikelola pada 2025 [1][2]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754880" y="2395728"/>
            <a:ext cx="2011680" cy="91440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892040" y="24688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EE0BE"/>
                </a:solidFill>
              </a:rPr>
              <a:t>5%</a:t>
            </a:r>
            <a:endParaRPr lang="en-US" sz="2600" dirty="0"/>
          </a:p>
        </p:txBody>
      </p:sp>
      <p:sp>
        <p:nvSpPr>
          <p:cNvPr id="15" name="Text 12"/>
          <p:cNvSpPr txBox="1"/>
          <p:nvPr/>
        </p:nvSpPr>
        <p:spPr>
          <a:xfrm>
            <a:off x="4892040" y="29260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estimasi ACFE 2018, dikutip Permenkes [8]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6858000" y="2395728"/>
            <a:ext cx="1920240" cy="91440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995160" y="24688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EE0BE"/>
                </a:solidFill>
              </a:rPr>
              <a:t>Rp35 M</a:t>
            </a:r>
            <a:endParaRPr lang="en-US" sz="2600" dirty="0"/>
          </a:p>
        </p:txBody>
      </p:sp>
      <p:sp>
        <p:nvSpPr>
          <p:cNvPr id="18" name="Text 15"/>
          <p:cNvSpPr txBox="1"/>
          <p:nvPr/>
        </p:nvSpPr>
        <p:spPr>
          <a:xfrm>
            <a:off x="6995160" y="29260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temuan KPK fraud klaim JKN di 3 RS [3]</a:t>
            </a:r>
            <a:endParaRPr lang="en-US" sz="950" dirty="0"/>
          </a:p>
        </p:txBody>
      </p:sp>
      <p:sp>
        <p:nvSpPr>
          <p:cNvPr id="19" name="card Kasus sisi peserta"/>
          <p:cNvSpPr/>
          <p:nvPr/>
        </p:nvSpPr>
        <p:spPr>
          <a:xfrm>
            <a:off x="4754880" y="3419856"/>
            <a:ext cx="4023360" cy="1289304"/>
          </a:xfrm>
          <a:prstGeom prst="rect">
            <a:avLst/>
          </a:prstGeom>
          <a:solidFill>
            <a:srgbClr val="FFFFFF"/>
          </a:solidFill>
          <a:ln w="6350">
            <a:solidFill>
              <a:srgbClr val="E6E0D0"/>
            </a:solidFill>
            <a:prstDash val="solid"/>
          </a:ln>
          <a:effectLst>
            <a:outerShdw sx="100000" sy="100000" kx="0" ky="0" algn="bl" rotWithShape="0" blurRad="50800" dist="19050" dir="5400000">
              <a:srgbClr val="CFC8B6">
                <a:alpha val="5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754880" y="3419856"/>
            <a:ext cx="54864" cy="1289304"/>
          </a:xfrm>
          <a:prstGeom prst="rect">
            <a:avLst/>
          </a:prstGeom>
          <a:solidFill>
            <a:srgbClr val="1B9A6E"/>
          </a:solidFill>
          <a:ln w="12700">
            <a:solidFill>
              <a:srgbClr val="1B9A6E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937760" y="349300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</a:rPr>
              <a:t>Kasus sisi peserta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4937760" y="3803904"/>
            <a:ext cx="370332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B2B2B"/>
                </a:solidFill>
              </a:rPr>
              <a:t>Kartu dipinjamkan: BPJS Kesehatan menghitung kerugian Rp14 juta, pemilik kartu diminta mengganti (2022) [6]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B2B2B"/>
                </a:solidFill>
              </a:rPr>
              <a:t>Tindakan berulang tanpa indikasi demi memperbesar klaim, membahayakan pasien [5]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B2B2B"/>
                </a:solidFill>
              </a:rPr>
              <a:t>Angka sisi peserta terpisah belum dipublikasikan terbuka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645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9A6E"/>
                </a:solidFill>
              </a:rPr>
              <a:t>BAGIAN 3 | SOLUSI &amp; KEUNGGULAN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38404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</a:rPr>
              <a:t>Tiga alert, satu pipeline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89611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0"/>
                </a:solidFill>
              </a:rPr>
              <a:t>Setiap fitur terhubung ke satu sub-kategori brief. Pengguna akhirnya adalah manusia: apoteker, dokter, verifikator.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2697480" cy="2148840"/>
          </a:xfrm>
          <a:prstGeom prst="rect">
            <a:avLst/>
          </a:prstGeom>
          <a:solidFill>
            <a:srgbClr val="FFFFFF"/>
          </a:solidFill>
          <a:ln w="6350">
            <a:solidFill>
              <a:srgbClr val="E6E0D0"/>
            </a:solidFill>
            <a:prstDash val="solid"/>
          </a:ln>
          <a:effectLst>
            <a:outerShdw sx="100000" sy="100000" kx="0" ky="0" algn="bl" rotWithShape="0" blurRad="50800" dist="19050" dir="5400000">
              <a:srgbClr val="CFC8B6">
                <a:alpha val="5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481328"/>
            <a:ext cx="365760" cy="365760"/>
          </a:xfrm>
          <a:prstGeom prst="ellipse">
            <a:avLst/>
          </a:prstGeom>
          <a:solidFill>
            <a:srgbClr val="1B9A6E"/>
          </a:solidFill>
          <a:ln w="12700">
            <a:solidFill>
              <a:srgbClr val="1B9A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2920" y="14813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148132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</a:rPr>
              <a:t>Penebusan Obat Berulang</a:t>
            </a:r>
            <a:endParaRPr lang="en-US" sz="12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0" y="1481328"/>
            <a:ext cx="365760" cy="36576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02920" y="1938528"/>
            <a:ext cx="2423160" cy="256032"/>
          </a:xfrm>
          <a:prstGeom prst="roundRect">
            <a:avLst>
              <a:gd name="adj" fmla="val 21429"/>
            </a:avLst>
          </a:prstGeom>
          <a:solidFill>
            <a:srgbClr val="8EE0BE"/>
          </a:solidFill>
          <a:ln w="12700">
            <a:solidFill>
              <a:srgbClr val="8EE0B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02920" y="1938528"/>
            <a:ext cx="242316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213D"/>
                </a:solidFill>
              </a:rPr>
              <a:t>Penyalahgunaan Obat/Alkes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502920" y="2267712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</a:rPr>
              <a:t>Obat sama ditebus di banyak faskes dalam waktu berdekatan, atau melebihi kebutuhan 30 hari (program rujuk balik [10]; contoh obat kronis 1 bulan di Lampiran [8]).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02920" y="3127248"/>
            <a:ext cx="2423160" cy="274320"/>
          </a:xfrm>
          <a:prstGeom prst="roundRect">
            <a:avLst>
              <a:gd name="adj" fmla="val 20000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02920" y="3127248"/>
            <a:ext cx="242316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Apoteker: konfirmasi sebelum menyerahkan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3200400" y="1371600"/>
            <a:ext cx="2697480" cy="2148840"/>
          </a:xfrm>
          <a:prstGeom prst="rect">
            <a:avLst/>
          </a:prstGeom>
          <a:solidFill>
            <a:srgbClr val="FFFFFF"/>
          </a:solidFill>
          <a:ln w="6350">
            <a:solidFill>
              <a:srgbClr val="E6E0D0"/>
            </a:solidFill>
            <a:prstDash val="solid"/>
          </a:ln>
          <a:effectLst>
            <a:outerShdw sx="100000" sy="100000" kx="0" ky="0" algn="bl" rotWithShape="0" blurRad="50800" dist="19050" dir="5400000">
              <a:srgbClr val="CFC8B6">
                <a:alpha val="5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337560" y="1481328"/>
            <a:ext cx="365760" cy="365760"/>
          </a:xfrm>
          <a:prstGeom prst="ellipse">
            <a:avLst/>
          </a:prstGeom>
          <a:solidFill>
            <a:srgbClr val="1B9A6E"/>
          </a:solidFill>
          <a:ln w="12700">
            <a:solidFill>
              <a:srgbClr val="1B9A6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337560" y="14813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3794760" y="148132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</a:rPr>
              <a:t>Pola Layanan Berulang</a:t>
            </a:r>
            <a:endParaRPr lang="en-US" sz="1200" dirty="0"/>
          </a:p>
        </p:txBody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481328"/>
            <a:ext cx="365760" cy="365760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3337560" y="1938528"/>
            <a:ext cx="2423160" cy="256032"/>
          </a:xfrm>
          <a:prstGeom prst="roundRect">
            <a:avLst>
              <a:gd name="adj" fmla="val 21429"/>
            </a:avLst>
          </a:prstGeom>
          <a:solidFill>
            <a:srgbClr val="8EE0BE"/>
          </a:solidFill>
          <a:ln w="12700">
            <a:solidFill>
              <a:srgbClr val="8EE0BE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3337560" y="1938528"/>
            <a:ext cx="242316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213D"/>
                </a:solidFill>
              </a:rPr>
              <a:t>Pelayanan yang Tidak Perlu</a:t>
            </a:r>
            <a:endParaRPr lang="en-US" sz="950" dirty="0"/>
          </a:p>
        </p:txBody>
      </p:sp>
      <p:sp>
        <p:nvSpPr>
          <p:cNvPr id="22" name="Text 18"/>
          <p:cNvSpPr txBox="1"/>
          <p:nvPr/>
        </p:nvSpPr>
        <p:spPr>
          <a:xfrm>
            <a:off x="3337560" y="2267712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</a:rPr>
              <a:t>Lab/rujukan sama berulang lintas faskes tanpa perubahan diagnosis; dibandingkan norma per diagnosis.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3337560" y="3127248"/>
            <a:ext cx="2423160" cy="274320"/>
          </a:xfrm>
          <a:prstGeom prst="roundRect">
            <a:avLst>
              <a:gd name="adj" fmla="val 20000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3337560" y="3127248"/>
            <a:ext cx="242316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Dokter: ringkasan riwayat + saran verifikasi</a:t>
            </a:r>
            <a:endParaRPr lang="en-US" sz="950" dirty="0"/>
          </a:p>
        </p:txBody>
      </p:sp>
      <p:sp>
        <p:nvSpPr>
          <p:cNvPr id="25" name="Shape 21"/>
          <p:cNvSpPr/>
          <p:nvPr/>
        </p:nvSpPr>
        <p:spPr>
          <a:xfrm>
            <a:off x="6035040" y="1371600"/>
            <a:ext cx="2697480" cy="2148840"/>
          </a:xfrm>
          <a:prstGeom prst="rect">
            <a:avLst/>
          </a:prstGeom>
          <a:solidFill>
            <a:srgbClr val="FFFFFF"/>
          </a:solidFill>
          <a:ln w="6350">
            <a:solidFill>
              <a:srgbClr val="E6E0D0"/>
            </a:solidFill>
            <a:prstDash val="solid"/>
          </a:ln>
          <a:effectLst>
            <a:outerShdw sx="100000" sy="100000" kx="0" ky="0" algn="bl" rotWithShape="0" blurRad="50800" dist="19050" dir="5400000">
              <a:srgbClr val="CFC8B6">
                <a:alpha val="50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6172200" y="1481328"/>
            <a:ext cx="365760" cy="365760"/>
          </a:xfrm>
          <a:prstGeom prst="ellipse">
            <a:avLst/>
          </a:prstGeom>
          <a:solidFill>
            <a:srgbClr val="1B9A6E"/>
          </a:solidFill>
          <a:ln w="12700">
            <a:solidFill>
              <a:srgbClr val="1B9A6E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6172200" y="14813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8" name="Text 24"/>
          <p:cNvSpPr txBox="1"/>
          <p:nvPr/>
        </p:nvSpPr>
        <p:spPr>
          <a:xfrm>
            <a:off x="6629400" y="148132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</a:rPr>
              <a:t>Anomali Pemakaian Identitas</a:t>
            </a:r>
            <a:endParaRPr lang="en-US" sz="1200" dirty="0"/>
          </a:p>
        </p:txBody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1481328"/>
            <a:ext cx="365760" cy="365760"/>
          </a:xfrm>
          <a:prstGeom prst="rect">
            <a:avLst/>
          </a:prstGeom>
        </p:spPr>
      </p:pic>
      <p:sp>
        <p:nvSpPr>
          <p:cNvPr id="30" name="Shape 25"/>
          <p:cNvSpPr/>
          <p:nvPr/>
        </p:nvSpPr>
        <p:spPr>
          <a:xfrm>
            <a:off x="6172200" y="1938528"/>
            <a:ext cx="2423160" cy="256032"/>
          </a:xfrm>
          <a:prstGeom prst="roundRect">
            <a:avLst>
              <a:gd name="adj" fmla="val 21429"/>
            </a:avLst>
          </a:prstGeom>
          <a:solidFill>
            <a:srgbClr val="8EE0BE"/>
          </a:solidFill>
          <a:ln w="12700">
            <a:solidFill>
              <a:srgbClr val="8EE0BE"/>
            </a:solidFill>
            <a:prstDash val="solid"/>
          </a:ln>
        </p:spPr>
      </p:sp>
      <p:sp>
        <p:nvSpPr>
          <p:cNvPr id="31" name="Text 26"/>
          <p:cNvSpPr txBox="1"/>
          <p:nvPr/>
        </p:nvSpPr>
        <p:spPr>
          <a:xfrm>
            <a:off x="6172200" y="1938528"/>
            <a:ext cx="242316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213D"/>
                </a:solidFill>
              </a:rPr>
              <a:t>Penyalahgunaan Identitas</a:t>
            </a:r>
            <a:endParaRPr lang="en-US" sz="950" dirty="0"/>
          </a:p>
        </p:txBody>
      </p:sp>
      <p:sp>
        <p:nvSpPr>
          <p:cNvPr id="32" name="Text 27"/>
          <p:cNvSpPr txBox="1"/>
          <p:nvPr/>
        </p:nvSpPr>
        <p:spPr>
          <a:xfrm>
            <a:off x="6172200" y="2267712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</a:rPr>
              <a:t>Satu NIK terpakai di wilayah berjauhan pada waktu berdekatan, atau pola tak lazim terhadap riwayatnya sendiri.</a:t>
            </a:r>
            <a:endParaRPr lang="en-US" sz="1050" dirty="0"/>
          </a:p>
        </p:txBody>
      </p:sp>
      <p:sp>
        <p:nvSpPr>
          <p:cNvPr id="33" name="Shape 28"/>
          <p:cNvSpPr/>
          <p:nvPr/>
        </p:nvSpPr>
        <p:spPr>
          <a:xfrm>
            <a:off x="6172200" y="3127248"/>
            <a:ext cx="2423160" cy="274320"/>
          </a:xfrm>
          <a:prstGeom prst="roundRect">
            <a:avLst>
              <a:gd name="adj" fmla="val 20000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34" name="Text 29"/>
          <p:cNvSpPr txBox="1"/>
          <p:nvPr/>
        </p:nvSpPr>
        <p:spPr>
          <a:xfrm>
            <a:off x="6172200" y="3127248"/>
            <a:ext cx="242316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Verifikator BPJS: telaah kasus</a:t>
            </a:r>
            <a:endParaRPr lang="en-US" sz="950" dirty="0"/>
          </a:p>
        </p:txBody>
      </p:sp>
      <p:sp>
        <p:nvSpPr>
          <p:cNvPr id="35" name="card Yang membedakan"/>
          <p:cNvSpPr/>
          <p:nvPr/>
        </p:nvSpPr>
        <p:spPr>
          <a:xfrm>
            <a:off x="365760" y="3657600"/>
            <a:ext cx="841248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6E0D0"/>
            </a:solidFill>
            <a:prstDash val="solid"/>
          </a:ln>
          <a:effectLst>
            <a:outerShdw sx="100000" sy="100000" kx="0" ky="0" algn="bl" rotWithShape="0" blurRad="50800" dist="19050" dir="5400000">
              <a:srgbClr val="CFC8B6">
                <a:alpha val="50000"/>
              </a:srgbClr>
            </a:outerShdw>
          </a:effectLst>
        </p:spPr>
      </p:sp>
      <p:sp>
        <p:nvSpPr>
          <p:cNvPr id="36" name="Shape 31"/>
          <p:cNvSpPr/>
          <p:nvPr/>
        </p:nvSpPr>
        <p:spPr>
          <a:xfrm>
            <a:off x="365760" y="3657600"/>
            <a:ext cx="54864" cy="1051560"/>
          </a:xfrm>
          <a:prstGeom prst="rect">
            <a:avLst/>
          </a:prstGeom>
          <a:solidFill>
            <a:srgbClr val="1B9A6E"/>
          </a:solidFill>
          <a:ln w="12700">
            <a:solidFill>
              <a:srgbClr val="1B9A6E"/>
            </a:solidFill>
            <a:prstDash val="solid"/>
          </a:ln>
        </p:spPr>
      </p:sp>
      <p:sp>
        <p:nvSpPr>
          <p:cNvPr id="37" name="Text 32"/>
          <p:cNvSpPr txBox="1"/>
          <p:nvPr/>
        </p:nvSpPr>
        <p:spPr>
          <a:xfrm>
            <a:off x="548640" y="373075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</a:rPr>
              <a:t>Yang membedakan</a:t>
            </a:r>
            <a:endParaRPr lang="en-US" sz="1300" dirty="0"/>
          </a:p>
        </p:txBody>
      </p:sp>
      <p:sp>
        <p:nvSpPr>
          <p:cNvPr id="38" name="Text 33"/>
          <p:cNvSpPr txBox="1"/>
          <p:nvPr/>
        </p:nvSpPr>
        <p:spPr>
          <a:xfrm>
            <a:off x="548640" y="4041648"/>
            <a:ext cx="8092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B2B2B"/>
                </a:solidFill>
              </a:rPr>
              <a:t>Menilai kasus/episode, bukan melabeli orang; tidak ada daftar hitam peserta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B2B2B"/>
                </a:solidFill>
              </a:rPr>
              <a:t>Hanya merekomendasikan verifikasi/edukasi; tidak ada blokir otomatis, peserta sah tidak kehilangan akses obat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B2B2B"/>
                </a:solidFill>
              </a:rPr>
              <a:t>Melengkapi biometrik di faskes [7] dan analitik anti-fraud BPJS [9]: fokus pada pola sisi peserta lintas faskes, dengan alasan, tanpa blokir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645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EE0BE"/>
                </a:solidFill>
              </a:rPr>
              <a:t>BAGIAN 3 (lanjutan) | STUDI KASUS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38404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Satu kasus, dari penebusan pertama sampai keputusan manusia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89611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9D6E2"/>
                </a:solidFill>
              </a:rPr>
              <a:t>Skenario hipotetis untuk menggambarkan alur; bukan data nyata.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7863840" cy="9144"/>
          </a:xfrm>
          <a:prstGeom prst="line">
            <a:avLst/>
          </a:prstGeom>
          <a:noFill/>
          <a:ln w="25400">
            <a:solidFill>
              <a:srgbClr val="1B9A6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627632"/>
            <a:ext cx="402336" cy="402336"/>
          </a:xfrm>
          <a:prstGeom prst="ellipse">
            <a:avLst/>
          </a:prstGeom>
          <a:solidFill>
            <a:srgbClr val="1B9A6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11480" y="16276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365760" y="21488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EE0BE"/>
                </a:solidFill>
              </a:rPr>
              <a:t>Hari 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365760" y="2450592"/>
            <a:ext cx="1600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Pasien P-A menebus obat hipertensi 30 hari di Apotek 1 (faskes X).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130552" y="1627632"/>
            <a:ext cx="402336" cy="402336"/>
          </a:xfrm>
          <a:prstGeom prst="ellipse">
            <a:avLst/>
          </a:prstGeom>
          <a:solidFill>
            <a:srgbClr val="1B9A6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130552" y="16276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084832" y="21488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EE0BE"/>
                </a:solidFill>
              </a:rPr>
              <a:t>Hari 9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2084832" y="2450592"/>
            <a:ext cx="1600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Obat sama ditebus lagi di Apotek 2 (faskes Y), padahal stok 30 hari belum habis.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849624" y="1627632"/>
            <a:ext cx="402336" cy="402336"/>
          </a:xfrm>
          <a:prstGeom prst="ellipse">
            <a:avLst/>
          </a:prstGeom>
          <a:solidFill>
            <a:srgbClr val="1B9A6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849624" y="16276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803904" y="21488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EE0BE"/>
                </a:solidFill>
              </a:rPr>
              <a:t>Hari 14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3803904" y="2450592"/>
            <a:ext cx="1600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Penebusan ketiga di faskes Z. Sentinel menghitung 3 faskes dalam 30 hari dan kuantitas jauh di atas kebutuhan.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568696" y="1627632"/>
            <a:ext cx="402336" cy="402336"/>
          </a:xfrm>
          <a:prstGeom prst="ellipse">
            <a:avLst/>
          </a:prstGeom>
          <a:solidFill>
            <a:srgbClr val="E8912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568696" y="16276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522976" y="21488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EE0BE"/>
                </a:solidFill>
              </a:rPr>
              <a:t>Antrean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522976" y="2450592"/>
            <a:ext cx="1600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Kasus masuk Prioritas Tinggi, lengkap dengan alasan: jumlah faskes, rasio kuantitas, interval.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287768" y="1627632"/>
            <a:ext cx="402336" cy="402336"/>
          </a:xfrm>
          <a:prstGeom prst="ellipse">
            <a:avLst/>
          </a:prstGeom>
          <a:solidFill>
            <a:srgbClr val="E8912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287768" y="16276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7242048" y="21488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EE0BE"/>
                </a:solidFill>
              </a:rPr>
              <a:t>Keputusan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7242048" y="2450592"/>
            <a:ext cx="1600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Apoteker Z melihat peringatan sebelum menyerahkan, memastikan riwayat, lalu konfirmasi atau menandai "flag salah".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65760" y="3749040"/>
            <a:ext cx="8412480" cy="960120"/>
          </a:xfrm>
          <a:prstGeom prst="rect">
            <a:avLst/>
          </a:prstGeom>
          <a:solidFill>
            <a:srgbClr val="1D2F4D"/>
          </a:solidFill>
          <a:ln w="12700">
            <a:solidFill>
              <a:srgbClr val="1D2F4D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48640" y="3813048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8EE0BE"/>
                </a:solidFill>
              </a:rPr>
              <a:t>Bagaimana bila pasien ternyata sah?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Obat hilang, dosis naik, atau pasien pindah kota: apoteker menandai "flag salah" atau melayani dengan catatan.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Tidak ada penolakan otomatis. Tanda "flag salah" masuk ke feedback loop untuk menurunkan false positive.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645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9A6E"/>
                </a:solidFill>
              </a:rPr>
              <a:t>BAGIAN 3 (lanjutan) | LANDASAN REGULASI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38404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</a:rPr>
              <a:t>Tiap sub-kategori punya dasar hukum dan sinyal terukur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89611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0"/>
                </a:solidFill>
              </a:rPr>
              <a:t>Definisi fraud peserta mengikuti Lampiran Bab II.A Permenkes 16/2019 [8]. Kolom kanan adalah sinyal yang dihitung Sentinel.</a:t>
            </a:r>
            <a:endParaRPr lang="en-US" sz="11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71600"/>
          <a:ext cx="841248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291840"/>
                <a:gridCol w="32918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Sub-kategori</a:t>
                      </a:r>
                      <a:endParaRPr lang="en-US" sz="115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Dasar (Permenkes 16/2019, ringkasan)</a:t>
                      </a:r>
                      <a:endParaRPr lang="en-US" sz="115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Sinyal Sentinel</a:t>
                      </a:r>
                      <a:endParaRPr lang="en-US" sz="115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4213D"/>
                          </a:solidFill>
                        </a:rPr>
                        <a:t>Penyalahgunaan identitas peserta</a:t>
                      </a:r>
                      <a:endParaRPr lang="en-US" sz="115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</a:rPr>
                        <a:t>Meminjamkan, menyewakan, atau memperjualbelikan identitas peserta milik orang lain atau diri sendiri (butir 2)</a:t>
                      </a:r>
                      <a:endParaRPr lang="en-US" sz="115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</a:rPr>
                        <a:t>NIK terpakai di wilayah berjauhan pada waktu berdekatan; lonjakan pemakaian dibanding riwayat sendiri</a:t>
                      </a:r>
                      <a:endParaRPr lang="en-US" sz="115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4213D"/>
                          </a:solidFill>
                        </a:rPr>
                        <a:t>Pelayanan yang tidak perlu</a:t>
                      </a:r>
                      <a:endParaRPr lang="en-US" sz="115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</a:rPr>
                        <a:t>Meminta rujukan ke FKRTL bukan karena alasan medis; memaksa tambahan pemeriksaan atau obat di luar indikasi (butir 3a, 3c)</a:t>
                      </a:r>
                      <a:endParaRPr lang="en-US" sz="115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</a:rPr>
                        <a:t>Rujukan, lab, atau pemeriksaan sama berulang lintas faskes tanpa perubahan diagnosis; dibanding norma per diagnosis</a:t>
                      </a:r>
                      <a:endParaRPr lang="en-US" sz="115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4213D"/>
                          </a:solidFill>
                        </a:rPr>
                        <a:t>Penyalahgunaan obat/alkes</a:t>
                      </a:r>
                      <a:endParaRPr lang="en-US" sz="115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</a:rPr>
                        <a:t>Memperoleh obat/alkes tidak sesuai ketentuan untuk dijual kembali demi keuntungan (butir 5)</a:t>
                      </a:r>
                      <a:endParaRPr lang="en-US" sz="115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</a:rPr>
                        <a:t>Obat sama ditebus di lebih dari satu faskes; kuantitas melebihi kebutuhan terapi (rujuk balik 30 hari [10])</a:t>
                      </a:r>
                      <a:endParaRPr lang="en-US" sz="115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3"/>
                    </a:solidFill>
                  </a:tcPr>
                </a:tc>
              </a:tr>
            </a:tbl>
          </a:graphicData>
        </a:graphic>
      </p:graphicFrame>
      <p:sp>
        <p:nvSpPr>
          <p:cNvPr id="6" name="card "/>
          <p:cNvSpPr/>
          <p:nvPr/>
        </p:nvSpPr>
        <p:spPr>
          <a:xfrm>
            <a:off x="365760" y="3657600"/>
            <a:ext cx="841248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6E0D0"/>
            </a:solidFill>
            <a:prstDash val="solid"/>
          </a:ln>
          <a:effectLst>
            <a:outerShdw sx="100000" sy="100000" kx="0" ky="0" algn="bl" rotWithShape="0" blurRad="50800" dist="19050" dir="5400000">
              <a:srgbClr val="CFC8B6">
                <a:alpha val="5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65760" y="3657600"/>
            <a:ext cx="54864" cy="1051560"/>
          </a:xfrm>
          <a:prstGeom prst="rect">
            <a:avLst/>
          </a:prstGeom>
          <a:solidFill>
            <a:srgbClr val="1B9A6E"/>
          </a:solidFill>
          <a:ln w="12700">
            <a:solidFill>
              <a:srgbClr val="1B9A6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3749040"/>
            <a:ext cx="8092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B2B2B"/>
                </a:solidFill>
              </a:rPr>
              <a:t>Deteksi memakai data kepesertaan, kunjungan, dan klaim yang objektif, representatif, rendah kesalahan, terbaru, dan relevan (Lampiran Bab IV.A); syarat itu menjadi uji kualitas data di tahap ingest.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B2B2B"/>
                </a:solidFill>
              </a:rPr>
              <a:t>Kriteria ekspose tingkat Pusat (Lampiran Bab IV.B): dugaan berulang lebih dari 1 kali dalam 1 sampai 3 bulan; jendela 30/60/90 hari Sentinel selaras rentang itu.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B2B2B"/>
                </a:solidFill>
              </a:rPr>
              <a:t>Sanksi administratif bagi pelaku, termasuk peserta: teguran lisan/tertulis dan perintah pengembalian kerugian (Pasal 6 ayat 2); pemblokiran layanan tidak tercantum.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645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9A6E"/>
                </a:solidFill>
              </a:rPr>
              <a:t>BAGIAN 4 | PENDEKATAN TEKNIS &amp; DATA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38404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</a:rPr>
              <a:t>Arsitektur dari hulu ke hilir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1965960" cy="1097280"/>
          </a:xfrm>
          <a:prstGeom prst="roundRect">
            <a:avLst>
              <a:gd name="adj" fmla="val 6667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38912" y="1234440"/>
            <a:ext cx="18196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1. SUMBER DATA</a:t>
            </a:r>
            <a:endParaRPr lang="en-US" sz="10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Kunjungan, resep, lab, rujukan, faskes, waktu (sintetis di prototype)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514600" y="1188720"/>
            <a:ext cx="1965960" cy="1097280"/>
          </a:xfrm>
          <a:prstGeom prst="roundRect">
            <a:avLst>
              <a:gd name="adj" fmla="val 6667"/>
            </a:avLst>
          </a:prstGeom>
          <a:solidFill>
            <a:srgbClr val="1B9A6E"/>
          </a:solidFill>
          <a:ln w="12700">
            <a:solidFill>
              <a:srgbClr val="1B9A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587752" y="1234440"/>
            <a:ext cx="18196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2. INGEST + PSEUDONIM</a:t>
            </a:r>
            <a:endParaRPr lang="en-US" sz="10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Validasi skema, hash ID, pemisahan kunci ID, audit log akses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63440" y="1188720"/>
            <a:ext cx="1965960" cy="1097280"/>
          </a:xfrm>
          <a:prstGeom prst="roundRect">
            <a:avLst>
              <a:gd name="adj" fmla="val 6667"/>
            </a:avLst>
          </a:prstGeom>
          <a:solidFill>
            <a:srgbClr val="1B9A6E"/>
          </a:solidFill>
          <a:ln w="12700">
            <a:solidFill>
              <a:srgbClr val="1B9A6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736592" y="1234440"/>
            <a:ext cx="18196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3. FITUR LINTAS FASKES</a:t>
            </a:r>
            <a:endParaRPr lang="en-US" sz="10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Frekuensi, interval, kuantitas vs norma per diagnosis; jendela 30/60/90 hari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812280" y="1188720"/>
            <a:ext cx="1965960" cy="1097280"/>
          </a:xfrm>
          <a:prstGeom prst="roundRect">
            <a:avLst>
              <a:gd name="adj" fmla="val 6667"/>
            </a:avLst>
          </a:prstGeom>
          <a:solidFill>
            <a:srgbClr val="1B9A6E"/>
          </a:solidFill>
          <a:ln w="12700">
            <a:solidFill>
              <a:srgbClr val="1B9A6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85432" y="1234440"/>
            <a:ext cx="18196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4. MESIN KASUS</a:t>
            </a:r>
            <a:endParaRPr lang="en-US" sz="10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Rules ketentuan + Isolation Forest; skor + alasan per kasus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812280" y="2514600"/>
            <a:ext cx="1965960" cy="1097280"/>
          </a:xfrm>
          <a:prstGeom prst="roundRect">
            <a:avLst>
              <a:gd name="adj" fmla="val 6667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85432" y="2560320"/>
            <a:ext cx="18196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5. DASHBOARD</a:t>
            </a:r>
            <a:endParaRPr lang="en-US" sz="10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Antrean prioritas + timestamp data; role apoteker/dokter/verifikator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63440" y="2514600"/>
            <a:ext cx="1965960" cy="1097280"/>
          </a:xfrm>
          <a:prstGeom prst="roundRect">
            <a:avLst>
              <a:gd name="adj" fmla="val 6667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736592" y="2560320"/>
            <a:ext cx="18196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6. KEPUTUSAN MANUSIA</a:t>
            </a:r>
            <a:endParaRPr lang="en-US" sz="10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Konfirmasi / abaikan / eskalasi; tandai "flag salah"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514600" y="2514600"/>
            <a:ext cx="1965960" cy="1097280"/>
          </a:xfrm>
          <a:prstGeom prst="roundRect">
            <a:avLst>
              <a:gd name="adj" fmla="val 6667"/>
            </a:avLst>
          </a:prstGeom>
          <a:solidFill>
            <a:srgbClr val="1B9A6E"/>
          </a:solidFill>
          <a:ln w="12700">
            <a:solidFill>
              <a:srgbClr val="1B9A6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587752" y="2560320"/>
            <a:ext cx="18196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7. FEEDBACK LOOP</a:t>
            </a:r>
            <a:endParaRPr lang="en-US" sz="10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Label ke retraining berkala; laporan precision@K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331720" y="1737360"/>
            <a:ext cx="182880" cy="0"/>
          </a:xfrm>
          <a:prstGeom prst="line">
            <a:avLst/>
          </a:prstGeom>
          <a:noFill/>
          <a:ln w="22225">
            <a:solidFill>
              <a:srgbClr val="14213D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480560" y="1737360"/>
            <a:ext cx="182880" cy="0"/>
          </a:xfrm>
          <a:prstGeom prst="line">
            <a:avLst/>
          </a:prstGeom>
          <a:noFill/>
          <a:ln w="22225">
            <a:solidFill>
              <a:srgbClr val="14213D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629400" y="1737360"/>
            <a:ext cx="182880" cy="0"/>
          </a:xfrm>
          <a:prstGeom prst="line">
            <a:avLst/>
          </a:prstGeom>
          <a:noFill/>
          <a:ln w="22225">
            <a:solidFill>
              <a:srgbClr val="14213D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772400" y="2286000"/>
            <a:ext cx="0" cy="228600"/>
          </a:xfrm>
          <a:prstGeom prst="line">
            <a:avLst/>
          </a:prstGeom>
          <a:noFill/>
          <a:ln w="22225">
            <a:solidFill>
              <a:srgbClr val="14213D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 flipH="1">
            <a:off x="6629400" y="3063240"/>
            <a:ext cx="182880" cy="0"/>
          </a:xfrm>
          <a:prstGeom prst="line">
            <a:avLst/>
          </a:prstGeom>
          <a:noFill/>
          <a:ln w="22225">
            <a:solidFill>
              <a:srgbClr val="14213D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 flipH="1">
            <a:off x="4480560" y="3063240"/>
            <a:ext cx="182880" cy="0"/>
          </a:xfrm>
          <a:prstGeom prst="line">
            <a:avLst/>
          </a:prstGeom>
          <a:noFill/>
          <a:ln w="22225">
            <a:solidFill>
              <a:srgbClr val="14213D"/>
            </a:solidFill>
            <a:prstDash val="solid"/>
            <a:tailEnd type="triangle"/>
          </a:ln>
        </p:spPr>
      </p:sp>
      <p:sp>
        <p:nvSpPr>
          <p:cNvPr id="24" name="card Asumsi &amp; keterbatasan"/>
          <p:cNvSpPr/>
          <p:nvPr/>
        </p:nvSpPr>
        <p:spPr>
          <a:xfrm>
            <a:off x="365760" y="3749040"/>
            <a:ext cx="411480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6E0D0"/>
            </a:solidFill>
            <a:prstDash val="solid"/>
          </a:ln>
          <a:effectLst>
            <a:outerShdw sx="100000" sy="100000" kx="0" ky="0" algn="bl" rotWithShape="0" blurRad="50800" dist="19050" dir="5400000">
              <a:srgbClr val="CFC8B6">
                <a:alpha val="5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3749040"/>
            <a:ext cx="54864" cy="960120"/>
          </a:xfrm>
          <a:prstGeom prst="rect">
            <a:avLst/>
          </a:prstGeom>
          <a:solidFill>
            <a:srgbClr val="1B9A6E"/>
          </a:solidFill>
          <a:ln w="12700">
            <a:solidFill>
              <a:srgbClr val="1B9A6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48640" y="38221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</a:rPr>
              <a:t>Asumsi &amp; keterbatasan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4133088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B2B2B"/>
                </a:solidFill>
              </a:rPr>
              <a:t>Kualitas dan latensi data antar faskes berbeda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B2B2B"/>
                </a:solidFill>
              </a:rPr>
              <a:t>Anomali belum tentu fraud (mis. pasien kronis)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B2B2B"/>
                </a:solidFill>
              </a:rPr>
              <a:t>Hasil sintetis bukan klaim performa nyata</a:t>
            </a:r>
            <a:endParaRPr lang="en-US" sz="1000" dirty="0"/>
          </a:p>
        </p:txBody>
      </p:sp>
      <p:sp>
        <p:nvSpPr>
          <p:cNvPr id="28" name="card Keamanan &amp; privasi (UU PDP) [12]"/>
          <p:cNvSpPr/>
          <p:nvPr/>
        </p:nvSpPr>
        <p:spPr>
          <a:xfrm>
            <a:off x="4663440" y="3749040"/>
            <a:ext cx="411480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6E0D0"/>
            </a:solidFill>
            <a:prstDash val="solid"/>
          </a:ln>
          <a:effectLst>
            <a:outerShdw sx="100000" sy="100000" kx="0" ky="0" algn="bl" rotWithShape="0" blurRad="50800" dist="19050" dir="5400000">
              <a:srgbClr val="CFC8B6">
                <a:alpha val="5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63440" y="3749040"/>
            <a:ext cx="54864" cy="960120"/>
          </a:xfrm>
          <a:prstGeom prst="rect">
            <a:avLst/>
          </a:prstGeom>
          <a:solidFill>
            <a:srgbClr val="1B9A6E"/>
          </a:solidFill>
          <a:ln w="12700">
            <a:solidFill>
              <a:srgbClr val="1B9A6E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846320" y="38221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</a:rPr>
              <a:t>Keamanan &amp; privasi (UU PDP) [12]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4846320" y="4133088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B2B2B"/>
                </a:solidFill>
              </a:rPr>
              <a:t>Pseudonimisasi, akses per peran, enkripsi in transit/at rest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B2B2B"/>
                </a:solidFill>
              </a:rPr>
              <a:t>Dashboard menampilkan ringkasan pola, bukan rekam medis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B2B2B"/>
                </a:solidFill>
              </a:rPr>
              <a:t>Data riil hanya dengan izin resmi dan MoU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645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9A6E"/>
                </a:solidFill>
              </a:rPr>
              <a:t>BAGIAN 4 (lanjutan) | FITUR &amp; MODEL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38404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</a:rPr>
              <a:t>Tujuh fitur konkret, dua lapis deteksi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89611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0"/>
                </a:solidFill>
              </a:rPr>
              <a:t>Jendela 30/60/90 hari selaras kriteria ekspose tingkat Pusat (berulang dalam 1-3 bulan) [8]. Rules memberi alasan; Isolation Forest menangkap kombinasi tak lazim.</a:t>
            </a:r>
            <a:endParaRPr lang="en-US" sz="11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71600"/>
          <a:ext cx="521208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2651760"/>
                <a:gridCol w="1143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Fitur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Definisi ringkas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Sub-kat.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213D"/>
                          </a:solidFill>
                        </a:rPr>
                        <a:t>n_faskes_30d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</a:rPr>
                        <a:t>Faskes berbeda untuk obat sama dalam 30 hari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</a:rPr>
                        <a:t>Obat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213D"/>
                          </a:solidFill>
                        </a:rPr>
                        <a:t>qty_ratio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</a:rPr>
                        <a:t>Jumlah obat diterima / kebutuhan terapi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</a:rPr>
                        <a:t>Obat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213D"/>
                          </a:solidFill>
                        </a:rPr>
                        <a:t>gap_days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</a:rPr>
                        <a:t>Rasio selisih hari antar penebusan / hari terapi (terkecil)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</a:rPr>
                        <a:t>Obat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213D"/>
                          </a:solidFill>
                        </a:rPr>
                        <a:t>repeat_svc_60d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</a:rPr>
                        <a:t>Lab/rujukan sama berulang, 60 hari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</a:rPr>
                        <a:t>Layanan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213D"/>
                          </a:solidFill>
                        </a:rPr>
                        <a:t>dx_norm_z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</a:rPr>
                        <a:t>Z-score layanan vs peserta sekelompok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</a:rPr>
                        <a:t>Layanan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213D"/>
                          </a:solidFill>
                        </a:rPr>
                        <a:t>geo_time_conflict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</a:rPr>
                        <a:t>Pemakaian di wilayah berjauhan dalam waktu dekat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</a:rPr>
                        <a:t>Identitas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213D"/>
                          </a:solidFill>
                        </a:rPr>
                        <a:t>use_vs_self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</a:rPr>
                        <a:t>Lonjakan vs median riwayat sendiri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</a:rPr>
                        <a:t>Identitas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3"/>
                    </a:solidFill>
                  </a:tcPr>
                </a:tc>
              </a:tr>
            </a:tbl>
          </a:graphicData>
        </a:graphic>
      </p:graphicFrame>
      <p:sp>
        <p:nvSpPr>
          <p:cNvPr id="6" name="card Mengapa dua lapis"/>
          <p:cNvSpPr/>
          <p:nvPr/>
        </p:nvSpPr>
        <p:spPr>
          <a:xfrm>
            <a:off x="5760720" y="1371600"/>
            <a:ext cx="3017520" cy="3337560"/>
          </a:xfrm>
          <a:prstGeom prst="rect">
            <a:avLst/>
          </a:prstGeom>
          <a:solidFill>
            <a:srgbClr val="FFFFFF"/>
          </a:solidFill>
          <a:ln w="6350">
            <a:solidFill>
              <a:srgbClr val="E6E0D0"/>
            </a:solidFill>
            <a:prstDash val="solid"/>
          </a:ln>
          <a:effectLst>
            <a:outerShdw sx="100000" sy="100000" kx="0" ky="0" algn="bl" rotWithShape="0" blurRad="50800" dist="19050" dir="5400000">
              <a:srgbClr val="CFC8B6">
                <a:alpha val="5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760720" y="1371600"/>
            <a:ext cx="54864" cy="3337560"/>
          </a:xfrm>
          <a:prstGeom prst="rect">
            <a:avLst/>
          </a:prstGeom>
          <a:solidFill>
            <a:srgbClr val="1B9A6E"/>
          </a:solidFill>
          <a:ln w="12700">
            <a:solidFill>
              <a:srgbClr val="1B9A6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943600" y="14447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</a:rPr>
              <a:t>Mengapa dua lapis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5943600" y="1755648"/>
            <a:ext cx="269748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</a:rPr>
              <a:t>Rules: aturan ketentuan yang jelas, hasil mudah dijelaskan ke verifikator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</a:rPr>
              <a:t>Isolation Forest: kombinasi fitur yang tidak bisa ditulis sebagai aturan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</a:rPr>
              <a:t>Deep learning tidak dipakai: label fraud sah belum ada dan alasan flag harus bisa dijelaskan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</a:rPr>
              <a:t>Hasil jujur: pada versi awal Isolation Forest sendiri hampir setara dengan gabungan (selisih kecil, berubah menurut K). Normalisasi skor per kelompok kronis x usia menaikkan recall dari 84,8% ke 92,6%; rules memberi alasan flag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</a:rPr>
              <a:t>Supervised dibuka setelah ada label hasil verifikasi pilot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645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9A6E"/>
                </a:solidFill>
              </a:rPr>
              <a:t>BAGIAN 4 (lanjutan) | DATA SINTETIS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38404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</a:rPr>
              <a:t>Cara kami membuktikan tanpa data JKN riil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89611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0"/>
                </a:solidFill>
              </a:rPr>
              <a:t>Generator dan pipeline sudah berjalan; seluruh angka di bawah berasal dari data sintetis hasil generator.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1627632" cy="91440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02920" y="1444752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EE0BE"/>
                </a:solidFill>
              </a:rPr>
              <a:t>20.000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1901952"/>
            <a:ext cx="1353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peserta sintetis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075688" y="1371600"/>
            <a:ext cx="1627632" cy="91440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212848" y="1444752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EE0BE"/>
                </a:solidFill>
              </a:rPr>
              <a:t>44.124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2212848" y="1901952"/>
            <a:ext cx="1353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baris resep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785616" y="1371600"/>
            <a:ext cx="1627632" cy="91440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922776" y="1444752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EE0BE"/>
                </a:solidFill>
              </a:rPr>
              <a:t>53.923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3922776" y="1901952"/>
            <a:ext cx="1353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baris lab/rujukan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495544" y="1371600"/>
            <a:ext cx="1627632" cy="91440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632704" y="1444752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EE0BE"/>
                </a:solidFill>
              </a:rPr>
              <a:t>540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5632704" y="1901952"/>
            <a:ext cx="1353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kasus pola tertanam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205472" y="1371600"/>
            <a:ext cx="1627632" cy="91440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42632" y="1444752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EE0BE"/>
                </a:solidFill>
              </a:rPr>
              <a:t>600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7342632" y="1901952"/>
            <a:ext cx="1353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decoy pasien sah</a:t>
            </a:r>
            <a:endParaRPr lang="en-US" sz="9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468880"/>
          <a:ext cx="420624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31089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Tabel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Kolom utama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4213D"/>
                          </a:solidFill>
                        </a:rPr>
                        <a:t>peserta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</a:rPr>
                        <a:t>id_pseudonim, usia, wilayah, status_kronis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4213D"/>
                          </a:solidFill>
                        </a:rPr>
                        <a:t>faskes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</a:rPr>
                        <a:t>id_faskes, wilayah (5 wilayah, 2 minim faskes)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4213D"/>
                          </a:solidFill>
                        </a:rPr>
                        <a:t>resep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</a:rPr>
                        <a:t>id, faskes, tanggal, obat, hari_terapi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4213D"/>
                          </a:solidFill>
                        </a:rPr>
                        <a:t>lab_rujukan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</a:rPr>
                        <a:t>id, faskes, tanggal, jenis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card Pola yang ditanam"/>
          <p:cNvSpPr/>
          <p:nvPr/>
        </p:nvSpPr>
        <p:spPr>
          <a:xfrm>
            <a:off x="4754880" y="2468880"/>
            <a:ext cx="402336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E6E0D0"/>
            </a:solidFill>
            <a:prstDash val="solid"/>
          </a:ln>
          <a:effectLst>
            <a:outerShdw sx="100000" sy="100000" kx="0" ky="0" algn="bl" rotWithShape="0" blurRad="50800" dist="19050" dir="5400000">
              <a:srgbClr val="CFC8B6">
                <a:alpha val="5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754880" y="2468880"/>
            <a:ext cx="54864" cy="2240280"/>
          </a:xfrm>
          <a:prstGeom prst="rect">
            <a:avLst/>
          </a:prstGeom>
          <a:solidFill>
            <a:srgbClr val="1B9A6E"/>
          </a:solidFill>
          <a:ln w="12700">
            <a:solidFill>
              <a:srgbClr val="1B9A6E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937760" y="25420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</a:rPr>
              <a:t>Pola yang ditanam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4937760" y="2852928"/>
            <a:ext cx="37033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</a:rPr>
              <a:t>P1 (200) Obat sama di 3-5 faskes dalam 30 hari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</a:rPr>
              <a:t>P2 (100) Kuantitas 3-4x kebutuhan sekali tebus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</a:rPr>
              <a:t>P3 (160) Lab sama 6-9 kali lintas faskes dalam 60 hari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</a:rPr>
              <a:t>P4 (80) Satu identitas di dua wilayah berjauhan pada hari yang sama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</a:rPr>
              <a:t>DECOY (600) Pasien kronis sah: rujukan antar faskes dan layanan banyak. Tidak boleh ter-flag</a:t>
            </a:r>
            <a:endParaRPr lang="en-US" sz="1050" dirty="0"/>
          </a:p>
        </p:txBody>
      </p:sp>
      <p:sp>
        <p:nvSpPr>
          <p:cNvPr id="25" name="card Catatan kejujuran"/>
          <p:cNvSpPr/>
          <p:nvPr/>
        </p:nvSpPr>
        <p:spPr>
          <a:xfrm>
            <a:off x="365760" y="3749040"/>
            <a:ext cx="420624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6E0D0"/>
            </a:solidFill>
            <a:prstDash val="solid"/>
          </a:ln>
          <a:effectLst>
            <a:outerShdw sx="100000" sy="100000" kx="0" ky="0" algn="bl" rotWithShape="0" blurRad="50800" dist="19050" dir="5400000">
              <a:srgbClr val="CFC8B6">
                <a:alpha val="5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365760" y="3749040"/>
            <a:ext cx="54864" cy="960120"/>
          </a:xfrm>
          <a:prstGeom prst="rect">
            <a:avLst/>
          </a:prstGeom>
          <a:solidFill>
            <a:srgbClr val="1B9A6E"/>
          </a:solidFill>
          <a:ln w="12700">
            <a:solidFill>
              <a:srgbClr val="1B9A6E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548640" y="38221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</a:rPr>
              <a:t>Catatan kejujuran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548640" y="4133088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B2B2B"/>
                </a:solidFill>
              </a:rPr>
              <a:t>Prevalensi fraud sintetis (2,7%) ditetapkan sendiri; prevalensi nyata tidak diketahui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B2B2B"/>
                </a:solidFill>
              </a:rPr>
              <a:t>Kode: sentinel_prototype.py, seed tetap, hasil dapat diulang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645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9A6E"/>
                </a:solidFill>
              </a:rPr>
              <a:t>BAGIAN 5 | KEMATANGAN &amp; HASIL UJI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38404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</a:rPr>
              <a:t>Prototype berjalan: hasil pada data sintetis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89611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0"/>
                </a:solidFill>
              </a:rPr>
              <a:t>Tahap: Prototype. Pengujian internal pada data sintetis; belum ada pilot atau data JKN riil.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4572000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E6E0D0"/>
            </a:solidFill>
            <a:prstDash val="solid"/>
          </a:ln>
          <a:effectLst>
            <a:outerShdw sx="100000" sy="100000" kx="0" ky="0" algn="bl" rotWithShape="0" blurRad="50800" dist="19050" dir="5400000">
              <a:srgbClr val="CFC8B6">
                <a:alpha val="50000"/>
              </a:srgbClr>
            </a:outerShdw>
          </a:effectLst>
        </p:spPr>
      </p:sp>
      <p:graphicFrame>
        <p:nvGraphicFramePr>
          <p:cNvPr id="6" name="Chart 0" descr=""/>
          <p:cNvGraphicFramePr/>
          <p:nvPr/>
        </p:nvGraphicFramePr>
        <p:xfrm>
          <a:off x="411480" y="1417320"/>
          <a:ext cx="448056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120640" y="1371600"/>
            <a:ext cx="3657600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E6E0D0"/>
            </a:solidFill>
            <a:prstDash val="solid"/>
          </a:ln>
          <a:effectLst>
            <a:outerShdw sx="100000" sy="100000" kx="0" ky="0" algn="bl" rotWithShape="0" blurRad="50800" dist="19050" dir="5400000">
              <a:srgbClr val="CFC8B6">
                <a:alpha val="50000"/>
              </a:srgbClr>
            </a:outerShdw>
          </a:effectLst>
        </p:spPr>
      </p:sp>
      <p:graphicFrame>
        <p:nvGraphicFramePr>
          <p:cNvPr id="8" name="Chart 1" descr=""/>
          <p:cNvGraphicFramePr/>
          <p:nvPr/>
        </p:nvGraphicFramePr>
        <p:xfrm>
          <a:off x="5166360" y="1417320"/>
          <a:ext cx="356616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Shape 5"/>
          <p:cNvSpPr/>
          <p:nvPr/>
        </p:nvSpPr>
        <p:spPr>
          <a:xfrm>
            <a:off x="365760" y="4251960"/>
            <a:ext cx="841248" cy="320040"/>
          </a:xfrm>
          <a:prstGeom prst="roundRect">
            <a:avLst>
              <a:gd name="adj" fmla="val 17143"/>
            </a:avLst>
          </a:prstGeom>
          <a:solidFill>
            <a:srgbClr val="DDD8CB"/>
          </a:solidFill>
          <a:ln w="12700">
            <a:solidFill>
              <a:srgbClr val="DDD8CB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365760" y="4251960"/>
            <a:ext cx="841248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6470"/>
                </a:solidFill>
              </a:rPr>
              <a:t>Ide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1280160" y="4251960"/>
            <a:ext cx="841248" cy="320040"/>
          </a:xfrm>
          <a:prstGeom prst="roundRect">
            <a:avLst>
              <a:gd name="adj" fmla="val 17143"/>
            </a:avLst>
          </a:prstGeom>
          <a:solidFill>
            <a:srgbClr val="DDD8CB"/>
          </a:solidFill>
          <a:ln w="12700">
            <a:solidFill>
              <a:srgbClr val="DDD8CB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1280160" y="4251960"/>
            <a:ext cx="841248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6470"/>
                </a:solidFill>
              </a:rPr>
              <a:t>Mockup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2194560" y="4251960"/>
            <a:ext cx="841248" cy="320040"/>
          </a:xfrm>
          <a:prstGeom prst="roundRect">
            <a:avLst>
              <a:gd name="adj" fmla="val 17143"/>
            </a:avLst>
          </a:prstGeom>
          <a:solidFill>
            <a:srgbClr val="1B9A6E"/>
          </a:solidFill>
          <a:ln w="12700">
            <a:solidFill>
              <a:srgbClr val="1B9A6E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2194560" y="4251960"/>
            <a:ext cx="841248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Prototype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3108960" y="4251960"/>
            <a:ext cx="841248" cy="320040"/>
          </a:xfrm>
          <a:prstGeom prst="roundRect">
            <a:avLst>
              <a:gd name="adj" fmla="val 17143"/>
            </a:avLst>
          </a:prstGeom>
          <a:solidFill>
            <a:srgbClr val="DDD8CB"/>
          </a:solidFill>
          <a:ln w="12700">
            <a:solidFill>
              <a:srgbClr val="DDD8CB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3108960" y="4251960"/>
            <a:ext cx="841248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6470"/>
                </a:solidFill>
              </a:rPr>
              <a:t>MVP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4023360" y="4251960"/>
            <a:ext cx="841248" cy="320040"/>
          </a:xfrm>
          <a:prstGeom prst="roundRect">
            <a:avLst>
              <a:gd name="adj" fmla="val 17143"/>
            </a:avLst>
          </a:prstGeom>
          <a:solidFill>
            <a:srgbClr val="DDD8CB"/>
          </a:solidFill>
          <a:ln w="12700">
            <a:solidFill>
              <a:srgbClr val="DDD8CB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4023360" y="4251960"/>
            <a:ext cx="841248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6470"/>
                </a:solidFill>
              </a:rPr>
              <a:t>Produk</a:t>
            </a:r>
            <a:endParaRPr lang="en-US" sz="1000" dirty="0"/>
          </a:p>
        </p:txBody>
      </p:sp>
      <p:sp>
        <p:nvSpPr>
          <p:cNvPr id="19" name="Text 15"/>
          <p:cNvSpPr txBox="1"/>
          <p:nvPr/>
        </p:nvSpPr>
        <p:spPr>
          <a:xfrm>
            <a:off x="5120640" y="42062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2B2B"/>
                </a:solidFill>
              </a:rPr>
              <a:t>Temuan: pola identitas (P4) paling sulit. Sebelum normalisasi per kelompok recall-nya 31.2%, sesudahnya 71.3%. Precision turun saat K membesar karena kasus tertanam terbatas.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645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9A6E"/>
                </a:solidFill>
              </a:rPr>
              <a:t>BAGIAN 8 | BIAS &amp; KEADILAN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38404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</a:rPr>
              <a:t>Bias ditemukan, diperbaiki, dan diukur ulang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89611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0"/>
                </a:solidFill>
              </a:rPr>
              <a:t>Laju flag pada peserta tanpa kasus tertanam, K = jumlah kasus tertanam. Perbaikan: skor anomali dinormalisasi per kelompok (kronis x usia).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2743200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E6E0D0"/>
            </a:solidFill>
            <a:prstDash val="solid"/>
          </a:ln>
          <a:effectLst>
            <a:outerShdw sx="100000" sy="100000" kx="0" ky="0" algn="bl" rotWithShape="0" blurRad="50800" dist="19050" dir="5400000">
              <a:srgbClr val="CFC8B6">
                <a:alpha val="5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46120" y="1371600"/>
            <a:ext cx="3108960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E6E0D0"/>
            </a:solidFill>
            <a:prstDash val="solid"/>
          </a:ln>
          <a:effectLst>
            <a:outerShdw sx="100000" sy="100000" kx="0" ky="0" algn="bl" rotWithShape="0" blurRad="50800" dist="19050" dir="5400000">
              <a:srgbClr val="CFC8B6">
                <a:alpha val="50000"/>
              </a:srgbClr>
            </a:outerShdw>
          </a:effectLst>
        </p:spPr>
      </p:sp>
      <p:graphicFrame>
        <p:nvGraphicFramePr>
          <p:cNvPr id="7" name="Chart 0" descr=""/>
          <p:cNvGraphicFramePr/>
          <p:nvPr/>
        </p:nvGraphicFramePr>
        <p:xfrm>
          <a:off x="411480" y="1417320"/>
          <a:ext cx="265176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8" name="Chart 1" descr=""/>
          <p:cNvGraphicFramePr/>
          <p:nvPr/>
        </p:nvGraphicFramePr>
        <p:xfrm>
          <a:off x="3291840" y="1417320"/>
          <a:ext cx="301752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Shape 5"/>
          <p:cNvSpPr/>
          <p:nvPr/>
        </p:nvSpPr>
        <p:spPr>
          <a:xfrm>
            <a:off x="6537960" y="1371600"/>
            <a:ext cx="2240280" cy="91440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675120" y="1444752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EE0BE"/>
                </a:solidFill>
              </a:rPr>
              <a:t>13.5% &gt; 6.5%</a:t>
            </a:r>
            <a:endParaRPr lang="en-US" sz="2200" dirty="0"/>
          </a:p>
        </p:txBody>
      </p:sp>
      <p:sp>
        <p:nvSpPr>
          <p:cNvPr id="11" name="Text 7"/>
          <p:cNvSpPr txBox="1"/>
          <p:nvPr/>
        </p:nvSpPr>
        <p:spPr>
          <a:xfrm>
            <a:off x="6675120" y="190195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decoy pasien sah yang ter-flag (sebelum &gt; sesudah)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6537960" y="2395728"/>
            <a:ext cx="2240280" cy="91440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675120" y="246888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EE0BE"/>
                </a:solidFill>
              </a:rPr>
              <a:t>84.8% &gt; 92.6%</a:t>
            </a:r>
            <a:endParaRPr lang="en-US" sz="2200" dirty="0"/>
          </a:p>
        </p:txBody>
      </p:sp>
      <p:sp>
        <p:nvSpPr>
          <p:cNvPr id="14" name="Text 10"/>
          <p:cNvSpPr txBox="1"/>
          <p:nvPr/>
        </p:nvSpPr>
        <p:spPr>
          <a:xfrm>
            <a:off x="6675120" y="29260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recall kasus tertanam pada K=540</a:t>
            </a:r>
            <a:endParaRPr lang="en-US" sz="950" dirty="0"/>
          </a:p>
        </p:txBody>
      </p:sp>
      <p:sp>
        <p:nvSpPr>
          <p:cNvPr id="15" name="card "/>
          <p:cNvSpPr/>
          <p:nvPr/>
        </p:nvSpPr>
        <p:spPr>
          <a:xfrm>
            <a:off x="365760" y="3931920"/>
            <a:ext cx="84124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6E0D0"/>
            </a:solidFill>
            <a:prstDash val="solid"/>
          </a:ln>
          <a:effectLst>
            <a:outerShdw sx="100000" sy="100000" kx="0" ky="0" algn="bl" rotWithShape="0" blurRad="50800" dist="19050" dir="5400000">
              <a:srgbClr val="CFC8B6">
                <a:alpha val="5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365760" y="3931920"/>
            <a:ext cx="54864" cy="777240"/>
          </a:xfrm>
          <a:prstGeom prst="rect">
            <a:avLst/>
          </a:prstGeom>
          <a:solidFill>
            <a:srgbClr val="1B9A6E"/>
          </a:solidFill>
          <a:ln w="12700">
            <a:solidFill>
              <a:srgbClr val="1B9A6E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548640" y="4023360"/>
            <a:ext cx="8092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B2B2B"/>
                </a:solidFill>
              </a:rPr>
              <a:t>Normalisasi per kelompok menurunkan laju flag pasien kronis dari 2,26% ke 1,1% sekaligus menaikkan recall. Sisa selisih kronis vs non-kronis masih ada, jadi pemantauan laju flag per segmen tetap wajib tiap rilis.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B2B2B"/>
                </a:solidFill>
              </a:rPr>
              <a:t>Laju antar wilayah 0,12% sampai 0,35% setelah perbaikan; tanpa pola jelas pada wilayah minim faskes (W3, W4).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645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9A6E"/>
                </a:solidFill>
              </a:rPr>
              <a:t>BAGIAN 5 (lanjutan) | UJI KETAHANAN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38404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</a:rPr>
              <a:t>Mengapa tidak hard-stop? Diuji, bukan diasumsikan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89611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0"/>
                </a:solidFill>
              </a:rPr>
              <a:t>Pembanding: aturan blok "obat sama di 2 faskes atau lebih dalam 30 hari" (konsep Pharma-Lock) vs Sentinel pada data sintetis yang sama.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4572000" cy="2606040"/>
          </a:xfrm>
          <a:prstGeom prst="rect">
            <a:avLst/>
          </a:prstGeom>
          <a:solidFill>
            <a:srgbClr val="FFFFFF"/>
          </a:solidFill>
          <a:ln w="6350">
            <a:solidFill>
              <a:srgbClr val="E6E0D0"/>
            </a:solidFill>
            <a:prstDash val="solid"/>
          </a:ln>
          <a:effectLst>
            <a:outerShdw sx="100000" sy="100000" kx="0" ky="0" algn="bl" rotWithShape="0" blurRad="50800" dist="19050" dir="5400000">
              <a:srgbClr val="CFC8B6">
                <a:alpha val="50000"/>
              </a:srgbClr>
            </a:outerShdw>
          </a:effectLst>
        </p:spPr>
      </p:sp>
      <p:graphicFrame>
        <p:nvGraphicFramePr>
          <p:cNvPr id="6" name="Chart 0" descr=""/>
          <p:cNvGraphicFramePr/>
          <p:nvPr/>
        </p:nvGraphicFramePr>
        <p:xfrm>
          <a:off x="411480" y="1417320"/>
          <a:ext cx="4480560" cy="2514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120640" y="1371600"/>
            <a:ext cx="3657600" cy="2606040"/>
          </a:xfrm>
          <a:prstGeom prst="rect">
            <a:avLst/>
          </a:prstGeom>
          <a:solidFill>
            <a:srgbClr val="FFFFFF"/>
          </a:solidFill>
          <a:ln w="6350">
            <a:solidFill>
              <a:srgbClr val="E6E0D0"/>
            </a:solidFill>
            <a:prstDash val="solid"/>
          </a:ln>
          <a:effectLst>
            <a:outerShdw sx="100000" sy="100000" kx="0" ky="0" algn="bl" rotWithShape="0" blurRad="50800" dist="19050" dir="5400000">
              <a:srgbClr val="CFC8B6">
                <a:alpha val="50000"/>
              </a:srgbClr>
            </a:outerShdw>
          </a:effectLst>
        </p:spPr>
      </p:sp>
      <p:graphicFrame>
        <p:nvGraphicFramePr>
          <p:cNvPr id="8" name="Chart 1" descr=""/>
          <p:cNvGraphicFramePr/>
          <p:nvPr/>
        </p:nvGraphicFramePr>
        <p:xfrm>
          <a:off x="5166360" y="1417320"/>
          <a:ext cx="3566160" cy="2514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card "/>
          <p:cNvSpPr/>
          <p:nvPr/>
        </p:nvSpPr>
        <p:spPr>
          <a:xfrm>
            <a:off x="365760" y="4114800"/>
            <a:ext cx="420624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6E0D0"/>
            </a:solidFill>
            <a:prstDash val="solid"/>
          </a:ln>
          <a:effectLst>
            <a:outerShdw sx="100000" sy="100000" kx="0" ky="0" algn="bl" rotWithShape="0" blurRad="50800" dist="19050" dir="5400000">
              <a:srgbClr val="CFC8B6">
                <a:alpha val="50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365760" y="4114800"/>
            <a:ext cx="54864" cy="640080"/>
          </a:xfrm>
          <a:prstGeom prst="rect">
            <a:avLst/>
          </a:prstGeom>
          <a:solidFill>
            <a:srgbClr val="1B9A6E"/>
          </a:solidFill>
          <a:ln w="12700">
            <a:solidFill>
              <a:srgbClr val="1B9A6E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548640" y="420624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B2B2B"/>
                </a:solidFill>
              </a:rPr>
              <a:t>Hard-stop memblokir 919 peserta, 714 di antaranya tidak berkasus tertanam, dan hanya menangkap 38% kasus.</a:t>
            </a:r>
            <a:endParaRPr lang="en-US" sz="1000" dirty="0"/>
          </a:p>
        </p:txBody>
      </p:sp>
      <p:sp>
        <p:nvSpPr>
          <p:cNvPr id="12" name="card "/>
          <p:cNvSpPr/>
          <p:nvPr/>
        </p:nvSpPr>
        <p:spPr>
          <a:xfrm>
            <a:off x="4754880" y="4114800"/>
            <a:ext cx="402336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6E0D0"/>
            </a:solidFill>
            <a:prstDash val="solid"/>
          </a:ln>
          <a:effectLst>
            <a:outerShdw sx="100000" sy="100000" kx="0" ky="0" algn="bl" rotWithShape="0" blurRad="50800" dist="19050" dir="5400000">
              <a:srgbClr val="CFC8B6">
                <a:alpha val="5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754880" y="4114800"/>
            <a:ext cx="54864" cy="640080"/>
          </a:xfrm>
          <a:prstGeom prst="rect">
            <a:avLst/>
          </a:prstGeom>
          <a:solidFill>
            <a:srgbClr val="1B9A6E"/>
          </a:solidFill>
          <a:ln w="12700">
            <a:solidFill>
              <a:srgbClr val="1B9A6E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4937760" y="420624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B2B2B"/>
                </a:solidFill>
              </a:rPr>
              <a:t>Prevalensi nyata kemungkinan di bawah 2,7%. Presisi turun, tetapi tetap jauh di atas acak (acak = prevalensi itu sendiri).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645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9A6E"/>
                </a:solidFill>
              </a:rPr>
              <a:t>BAGIAN 3 (lanjutan) | KELUARAN KASUS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38404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</a:rPr>
              <a:t>Kartu kasus: mengikuti format laporan deteksi resmi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89611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0"/>
                </a:solidFill>
              </a:rPr>
              <a:t>Lampiran Bab IV Permenkes menetapkan isi minimal laporan deteksi. Prototype menyusunnya otomatis (contoh keluaran nyata, data sintetis) supaya siap masuk alur resmi [8].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3931920" cy="3337560"/>
          </a:xfrm>
          <a:prstGeom prst="rect">
            <a:avLst/>
          </a:prstGeom>
          <a:solidFill>
            <a:srgbClr val="FFFFFF"/>
          </a:solidFill>
          <a:ln w="25400">
            <a:solidFill>
              <a:srgbClr val="1B9A6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02920" y="143560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213D"/>
                </a:solidFill>
              </a:rPr>
              <a:t>KARTU KASUS  P-ae7ddeec  (contoh keluaran prototype, data sintetis)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" y="1783080"/>
            <a:ext cx="3657600" cy="347472"/>
          </a:xfrm>
          <a:prstGeom prst="rect">
            <a:avLst/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178308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9A6E"/>
                </a:solidFill>
              </a:rPr>
              <a:t>Waktu kejadian  </a:t>
            </a:r>
            <a:pPr indent="0" marL="0">
              <a:buNone/>
            </a:pPr>
            <a:r>
              <a:rPr lang="en-US" sz="1000" dirty="0">
                <a:solidFill>
                  <a:srgbClr val="2B2B2B"/>
                </a:solidFill>
              </a:rPr>
              <a:t>hari 69-89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" y="2194560"/>
            <a:ext cx="3657600" cy="347472"/>
          </a:xfrm>
          <a:prstGeom prst="rect">
            <a:avLst/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219456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9A6E"/>
                </a:solidFill>
              </a:rPr>
              <a:t>Tempat kejadian  </a:t>
            </a:r>
            <a:pPr indent="0" marL="0">
              <a:buNone/>
            </a:pPr>
            <a:r>
              <a:rPr lang="en-US" sz="1000" dirty="0">
                <a:solidFill>
                  <a:srgbClr val="2B2B2B"/>
                </a:solidFill>
              </a:rPr>
              <a:t>5 faskes: F1, F37, F50, ...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2606040"/>
            <a:ext cx="3657600" cy="347472"/>
          </a:xfrm>
          <a:prstGeom prst="rect">
            <a:avLst/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94360" y="260604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9A6E"/>
                </a:solidFill>
              </a:rPr>
              <a:t>Pelaku  </a:t>
            </a:r>
            <a:pPr indent="0" marL="0">
              <a:buNone/>
            </a:pPr>
            <a:r>
              <a:rPr lang="en-US" sz="1000" dirty="0">
                <a:solidFill>
                  <a:srgbClr val="2B2B2B"/>
                </a:solidFill>
              </a:rPr>
              <a:t>P-ae7ddeec (hash; dibuka verifikator berwenang)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" y="3017520"/>
            <a:ext cx="3657600" cy="347472"/>
          </a:xfrm>
          <a:prstGeom prst="rect">
            <a:avLst/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4360" y="301752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9A6E"/>
                </a:solidFill>
              </a:rPr>
              <a:t>Jumlah kejadian  </a:t>
            </a:r>
            <a:pPr indent="0" marL="0">
              <a:buNone/>
            </a:pPr>
            <a:r>
              <a:rPr lang="en-US" sz="1000" dirty="0">
                <a:solidFill>
                  <a:srgbClr val="2B2B2B"/>
                </a:solidFill>
              </a:rPr>
              <a:t>5 kejadian dalam jendela deteksi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" y="3429000"/>
            <a:ext cx="3657600" cy="347472"/>
          </a:xfrm>
          <a:prstGeom prst="rect">
            <a:avLst/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94360" y="342900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9A6E"/>
                </a:solidFill>
              </a:rPr>
              <a:t>Potensi kerugian  </a:t>
            </a:r>
            <a:pPr indent="0" marL="0">
              <a:buNone/>
            </a:pPr>
            <a:r>
              <a:rPr lang="en-US" sz="1000" dirty="0">
                <a:solidFill>
                  <a:srgbClr val="2B2B2B"/>
                </a:solidFill>
              </a:rPr>
              <a:t>120 hari terapi di atas kebutuhan (nilai Rp butuh data klaim)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" y="3840480"/>
            <a:ext cx="3657600" cy="347472"/>
          </a:xfrm>
          <a:prstGeom prst="rect">
            <a:avLst/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94360" y="384048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9A6E"/>
                </a:solidFill>
              </a:rPr>
              <a:t>Sumber informasi  </a:t>
            </a:r>
            <a:pPr indent="0" marL="0">
              <a:buNone/>
            </a:pPr>
            <a:r>
              <a:rPr lang="en-US" sz="1000" dirty="0">
                <a:solidFill>
                  <a:srgbClr val="2B2B2B"/>
                </a:solidFill>
              </a:rPr>
              <a:t>data sintetis resep &amp; layanan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02920" y="4251960"/>
            <a:ext cx="3657600" cy="347472"/>
          </a:xfrm>
          <a:prstGeom prst="rect">
            <a:avLst/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94360" y="425196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9A6E"/>
                </a:solidFill>
              </a:rPr>
              <a:t>Kronologi / alasan  </a:t>
            </a:r>
            <a:pPr indent="0" marL="0">
              <a:buNone/>
            </a:pPr>
            <a:r>
              <a:rPr lang="en-US" sz="1000" dirty="0">
                <a:solidFill>
                  <a:srgbClr val="2B2B2B"/>
                </a:solidFill>
              </a:rPr>
              <a:t>n_faskes_30d (z=11.4)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0" y="13716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</a:rPr>
              <a:t>Jalur penyelesaian berjenjang (Lampiran Bab IV.B)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0" y="1737360"/>
            <a:ext cx="2926080" cy="457200"/>
          </a:xfrm>
          <a:prstGeom prst="roundRect">
            <a:avLst>
              <a:gd name="adj" fmla="val 12000"/>
            </a:avLst>
          </a:prstGeom>
          <a:solidFill>
            <a:srgbClr val="1B9A6E"/>
          </a:solidFill>
          <a:ln w="12700">
            <a:solidFill>
              <a:srgbClr val="1B9A6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72000" y="1737360"/>
            <a:ext cx="292608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Tim pencegahan di faskes / BPJS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035040" y="2194560"/>
            <a:ext cx="0" cy="201168"/>
          </a:xfrm>
          <a:prstGeom prst="line">
            <a:avLst/>
          </a:prstGeom>
          <a:noFill/>
          <a:ln w="22225">
            <a:solidFill>
              <a:srgbClr val="14213D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4572000" y="2395728"/>
            <a:ext cx="2926080" cy="457200"/>
          </a:xfrm>
          <a:prstGeom prst="roundRect">
            <a:avLst>
              <a:gd name="adj" fmla="val 12000"/>
            </a:avLst>
          </a:prstGeom>
          <a:solidFill>
            <a:srgbClr val="1B9A6E"/>
          </a:solidFill>
          <a:ln w="12700">
            <a:solidFill>
              <a:srgbClr val="1B9A6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572000" y="2395728"/>
            <a:ext cx="292608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Tim pencegahan Dinkes Kab/Kota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035040" y="2852928"/>
            <a:ext cx="0" cy="201168"/>
          </a:xfrm>
          <a:prstGeom prst="line">
            <a:avLst/>
          </a:prstGeom>
          <a:noFill/>
          <a:ln w="22225">
            <a:solidFill>
              <a:srgbClr val="14213D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4572000" y="3054096"/>
            <a:ext cx="2926080" cy="457200"/>
          </a:xfrm>
          <a:prstGeom prst="roundRect">
            <a:avLst>
              <a:gd name="adj" fmla="val 12000"/>
            </a:avLst>
          </a:prstGeom>
          <a:solidFill>
            <a:srgbClr val="1B9A6E"/>
          </a:solidFill>
          <a:ln w="12700">
            <a:solidFill>
              <a:srgbClr val="1B9A6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572000" y="3054096"/>
            <a:ext cx="292608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Tim pencegahan &amp; penanganan Provinsi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035040" y="3511296"/>
            <a:ext cx="0" cy="201168"/>
          </a:xfrm>
          <a:prstGeom prst="line">
            <a:avLst/>
          </a:prstGeom>
          <a:noFill/>
          <a:ln w="22225">
            <a:solidFill>
              <a:srgbClr val="14213D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4572000" y="3712464"/>
            <a:ext cx="2926080" cy="457200"/>
          </a:xfrm>
          <a:prstGeom prst="roundRect">
            <a:avLst>
              <a:gd name="adj" fmla="val 12000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572000" y="3712464"/>
            <a:ext cx="292608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Tim Pusat (Kemenkes, BPJS, KPK)</a:t>
            </a:r>
            <a:endParaRPr lang="en-US" sz="1100" dirty="0"/>
          </a:p>
        </p:txBody>
      </p:sp>
      <p:sp>
        <p:nvSpPr>
          <p:cNvPr id="33" name="card Jenis"/>
          <p:cNvSpPr/>
          <p:nvPr/>
        </p:nvSpPr>
        <p:spPr>
          <a:xfrm>
            <a:off x="7635240" y="1737360"/>
            <a:ext cx="114300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6E0D0"/>
            </a:solidFill>
            <a:prstDash val="solid"/>
          </a:ln>
          <a:effectLst>
            <a:outerShdw sx="100000" sy="100000" kx="0" ky="0" algn="bl" rotWithShape="0" blurRad="50800" dist="19050" dir="5400000">
              <a:srgbClr val="CFC8B6">
                <a:alpha val="5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635240" y="1737360"/>
            <a:ext cx="54864" cy="1280160"/>
          </a:xfrm>
          <a:prstGeom prst="rect">
            <a:avLst/>
          </a:prstGeom>
          <a:solidFill>
            <a:srgbClr val="1B9A6E"/>
          </a:solidFill>
          <a:ln w="12700">
            <a:solidFill>
              <a:srgbClr val="1B9A6E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818120" y="181051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</a:rPr>
              <a:t>Jenis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7818120" y="212140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2B2B2B"/>
                </a:solidFill>
              </a:rPr>
              <a:t>Insidental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2B2B2B"/>
                </a:solidFill>
              </a:rPr>
              <a:t>Rutin/semester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572000" y="4389120"/>
            <a:ext cx="4206240" cy="9144"/>
          </a:xfrm>
          <a:prstGeom prst="rect">
            <a:avLst/>
          </a:prstGeom>
          <a:solidFill>
            <a:srgbClr val="F6F3EC"/>
          </a:solidFill>
          <a:ln w="12700">
            <a:solidFill>
              <a:srgbClr val="F6F3EC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4572000" y="438912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B6470"/>
                </a:solidFill>
              </a:rPr>
              <a:t>Sentinel tidak masuk ke jalur ini. Ia hanya menyiapkan bahan: kasus yang sudah disaring, bertimestamp, dan beralasan.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645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9A6E"/>
                </a:solidFill>
              </a:rPr>
              <a:t>BAGIAN 3 (lanjutan) | TAMPILAN PRODUK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38404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</a:rPr>
              <a:t>Antrean kasus dengan alasan, bukan sekadar skor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89611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0"/>
                </a:solidFill>
              </a:rPr>
              <a:t>Mockup dengan data sintetis fiktif; akan diganti tangkapan layar prototype web saat antarmuka selesai.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8412480" cy="3337560"/>
          </a:xfrm>
          <a:prstGeom prst="rect">
            <a:avLst/>
          </a:prstGeom>
          <a:solidFill>
            <a:srgbClr val="F9FAFB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71600"/>
            <a:ext cx="8412480" cy="32004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2920" y="1371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JKN Sentinel  |  Antrean Verifikasi  |  Data terakhir: 04 Okt 2026 06:00 (sintetis)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02920" y="1874520"/>
            <a:ext cx="45720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18745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2B2B"/>
                </a:solidFill>
              </a:rPr>
              <a:t>P-0041 (pseudonim)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2286000" y="18745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</a:rPr>
              <a:t>Obat berulang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069080" y="1984248"/>
            <a:ext cx="868680" cy="237744"/>
          </a:xfrm>
          <a:prstGeom prst="roundRect">
            <a:avLst>
              <a:gd name="adj" fmla="val 23077"/>
            </a:avLst>
          </a:prstGeom>
          <a:solidFill>
            <a:srgbClr val="E8912D"/>
          </a:solidFill>
          <a:ln w="12700">
            <a:solidFill>
              <a:srgbClr val="E8912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069080" y="1984248"/>
            <a:ext cx="86868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Tinggi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02920" y="2441448"/>
            <a:ext cx="45720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4360" y="244144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2B2B"/>
                </a:solidFill>
              </a:rPr>
              <a:t>P-0107 (pseudonim)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2286000" y="244144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</a:rPr>
              <a:t>Layanan berulang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069080" y="2551176"/>
            <a:ext cx="868680" cy="237744"/>
          </a:xfrm>
          <a:prstGeom prst="roundRect">
            <a:avLst>
              <a:gd name="adj" fmla="val 23077"/>
            </a:avLst>
          </a:prstGeom>
          <a:solidFill>
            <a:srgbClr val="1B9A6E"/>
          </a:solidFill>
          <a:ln w="12700">
            <a:solidFill>
              <a:srgbClr val="1B9A6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069080" y="2551176"/>
            <a:ext cx="86868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Sedang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02920" y="3008376"/>
            <a:ext cx="45720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94360" y="3008376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2B2B"/>
                </a:solidFill>
              </a:rPr>
              <a:t>P-0233 (pseudonim)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2286000" y="3008376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</a:rPr>
              <a:t>Pemakaian identitas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069080" y="3118104"/>
            <a:ext cx="868680" cy="237744"/>
          </a:xfrm>
          <a:prstGeom prst="roundRect">
            <a:avLst>
              <a:gd name="adj" fmla="val 23077"/>
            </a:avLst>
          </a:prstGeom>
          <a:solidFill>
            <a:srgbClr val="1B9A6E"/>
          </a:solidFill>
          <a:ln w="12700">
            <a:solidFill>
              <a:srgbClr val="1B9A6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069080" y="3118104"/>
            <a:ext cx="86868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Sedang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02920" y="3575304"/>
            <a:ext cx="45720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94360" y="3575304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2B2B"/>
                </a:solidFill>
              </a:rPr>
              <a:t>P-0310 (pseudonim)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2286000" y="3575304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</a:rPr>
              <a:t>Obat berulang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069080" y="3685032"/>
            <a:ext cx="868680" cy="237744"/>
          </a:xfrm>
          <a:prstGeom prst="roundRect">
            <a:avLst>
              <a:gd name="adj" fmla="val 23077"/>
            </a:avLst>
          </a:prstGeom>
          <a:solidFill>
            <a:srgbClr val="C9CED6"/>
          </a:solidFill>
          <a:ln w="12700">
            <a:solidFill>
              <a:srgbClr val="C9CED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069080" y="3685032"/>
            <a:ext cx="86868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2B2B"/>
                </a:solidFill>
              </a:rPr>
              <a:t>Rendah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257800" y="1828800"/>
            <a:ext cx="3383280" cy="2788920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394960" y="18745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213D"/>
                </a:solidFill>
              </a:rPr>
              <a:t>Detail kasus P-0041: alasan flag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5394960" y="224028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2B2B"/>
                </a:solidFill>
              </a:rPr>
              <a:t>Jumlah faskes penebus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394960" y="2459736"/>
            <a:ext cx="3017520" cy="109728"/>
          </a:xfrm>
          <a:prstGeom prst="rect">
            <a:avLst/>
          </a:prstGeom>
          <a:solidFill>
            <a:srgbClr val="E3E6EA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394960" y="2459736"/>
            <a:ext cx="2564892" cy="109728"/>
          </a:xfrm>
          <a:prstGeom prst="rect">
            <a:avLst/>
          </a:prstGeom>
          <a:solidFill>
            <a:srgbClr val="E8912D"/>
          </a:solidFill>
          <a:ln w="12700">
            <a:solidFill>
              <a:srgbClr val="E8912D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394960" y="274320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2B2B"/>
                </a:solidFill>
              </a:rPr>
              <a:t>Kuantitas vs kebutuhan 30 hari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394960" y="2962656"/>
            <a:ext cx="3017520" cy="109728"/>
          </a:xfrm>
          <a:prstGeom prst="rect">
            <a:avLst/>
          </a:prstGeom>
          <a:solidFill>
            <a:srgbClr val="E3E6EA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394960" y="2962656"/>
            <a:ext cx="2112264" cy="109728"/>
          </a:xfrm>
          <a:prstGeom prst="rect">
            <a:avLst/>
          </a:prstGeom>
          <a:solidFill>
            <a:srgbClr val="1B9A6E"/>
          </a:solidFill>
          <a:ln w="12700">
            <a:solidFill>
              <a:srgbClr val="1B9A6E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394960" y="324612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2B2B"/>
                </a:solidFill>
              </a:rPr>
              <a:t>Interval antar penebusan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394960" y="3465576"/>
            <a:ext cx="3017520" cy="109728"/>
          </a:xfrm>
          <a:prstGeom prst="rect">
            <a:avLst/>
          </a:prstGeom>
          <a:solidFill>
            <a:srgbClr val="E3E6EA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394960" y="3465576"/>
            <a:ext cx="1508760" cy="109728"/>
          </a:xfrm>
          <a:prstGeom prst="rect">
            <a:avLst/>
          </a:prstGeom>
          <a:solidFill>
            <a:srgbClr val="1B9A6E"/>
          </a:solidFill>
          <a:ln w="12700">
            <a:solidFill>
              <a:srgbClr val="1B9A6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394960" y="3840480"/>
            <a:ext cx="960120" cy="292608"/>
          </a:xfrm>
          <a:prstGeom prst="roundRect">
            <a:avLst>
              <a:gd name="adj" fmla="val 18750"/>
            </a:avLst>
          </a:prstGeom>
          <a:solidFill>
            <a:srgbClr val="1B9A6E"/>
          </a:solidFill>
          <a:ln w="12700">
            <a:solidFill>
              <a:srgbClr val="1B9A6E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5394960" y="3840480"/>
            <a:ext cx="96012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Konfirmasi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419088" y="3840480"/>
            <a:ext cx="960120" cy="292608"/>
          </a:xfrm>
          <a:prstGeom prst="roundRect">
            <a:avLst>
              <a:gd name="adj" fmla="val 18750"/>
            </a:avLst>
          </a:prstGeom>
          <a:solidFill>
            <a:srgbClr val="C9CED6"/>
          </a:solidFill>
          <a:ln w="12700">
            <a:solidFill>
              <a:srgbClr val="C9CED6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419088" y="3840480"/>
            <a:ext cx="96012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B2B2B"/>
                </a:solidFill>
              </a:rPr>
              <a:t>Flag salah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7443216" y="3840480"/>
            <a:ext cx="960120" cy="292608"/>
          </a:xfrm>
          <a:prstGeom prst="roundRect">
            <a:avLst>
              <a:gd name="adj" fmla="val 18750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7443216" y="3840480"/>
            <a:ext cx="96012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Eskalasi</a:t>
            </a:r>
            <a:endParaRPr lang="en-US" sz="950" dirty="0"/>
          </a:p>
        </p:txBody>
      </p:sp>
      <p:sp>
        <p:nvSpPr>
          <p:cNvPr id="45" name="Text 43"/>
          <p:cNvSpPr txBox="1"/>
          <p:nvPr/>
        </p:nvSpPr>
        <p:spPr>
          <a:xfrm>
            <a:off x="5394960" y="422452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470"/>
                </a:solidFill>
              </a:rPr>
              <a:t>Keputusan ada di tombol manusia. Tidak ada blokir otomatis.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645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9A6E"/>
                </a:solidFill>
              </a:rPr>
              <a:t>BAGIAN 6 (lanjutan) | MODEL BISNIS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38404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</a:rPr>
              <a:t>Impas bila satu kasus benar menutup biaya telaah banyak kasus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89611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0"/>
                </a:solidFill>
              </a:rPr>
              <a:t>Tiga angka menentukan nilai Sentinel dan ketiganya diukur di pilot: precision, biaya telaah per kasus, kerugian rata-rata per kasus.</a:t>
            </a:r>
            <a:endParaRPr lang="en-US" sz="1150" dirty="0"/>
          </a:p>
        </p:txBody>
      </p:sp>
      <p:sp>
        <p:nvSpPr>
          <p:cNvPr id="5" name="card Model &amp; keberlanjutan"/>
          <p:cNvSpPr/>
          <p:nvPr/>
        </p:nvSpPr>
        <p:spPr>
          <a:xfrm>
            <a:off x="365760" y="1371600"/>
            <a:ext cx="3931920" cy="3337560"/>
          </a:xfrm>
          <a:prstGeom prst="rect">
            <a:avLst/>
          </a:prstGeom>
          <a:solidFill>
            <a:srgbClr val="FFFFFF"/>
          </a:solidFill>
          <a:ln w="6350">
            <a:solidFill>
              <a:srgbClr val="E6E0D0"/>
            </a:solidFill>
            <a:prstDash val="solid"/>
          </a:ln>
          <a:effectLst>
            <a:outerShdw sx="100000" sy="100000" kx="0" ky="0" algn="bl" rotWithShape="0" blurRad="50800" dist="19050" dir="5400000">
              <a:srgbClr val="CFC8B6">
                <a:alpha val="5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71600"/>
            <a:ext cx="54864" cy="3337560"/>
          </a:xfrm>
          <a:prstGeom prst="rect">
            <a:avLst/>
          </a:prstGeom>
          <a:solidFill>
            <a:srgbClr val="1B9A6E"/>
          </a:solidFill>
          <a:ln w="12700">
            <a:solidFill>
              <a:srgbClr val="1B9A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4447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</a:rPr>
              <a:t>Model &amp; keberlanjutan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755648"/>
            <a:ext cx="361188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</a:rPr>
              <a:t>Pengguna: apoteker, dokter, verifikator BPJS/Dinkes. Pemilik data dan mitra utama: BPJS Kesehatan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</a:rPr>
              <a:t>Tahap 1 (kompetisi dan pilot): tanpa biaya lisensi; tujuannya validasi dengan faskes mitra dan izin data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</a:rPr>
              <a:t>Tahap 2: kerja sama riset lalu pengadaan; skema harga ditetapkan dari ROI terukur di pilot, bukan di muka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</a:rPr>
              <a:t>Biaya nyata: komputasi ringan (CPU), pemeliharaan, dan waktu telaah manusia, yang kami hitung sebagai biaya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</a:rPr>
              <a:t>Memanfaatkan tim pencegahan dan penanganan kecurangan serta alur penyelesaian yang sudah ada, bukan membangun birokrasi baru [8]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480560" y="1371600"/>
            <a:ext cx="4297680" cy="3337560"/>
          </a:xfrm>
          <a:prstGeom prst="rect">
            <a:avLst/>
          </a:prstGeom>
          <a:solidFill>
            <a:srgbClr val="FFFFFF"/>
          </a:solidFill>
          <a:ln w="6350">
            <a:solidFill>
              <a:srgbClr val="E6E0D0"/>
            </a:solidFill>
            <a:prstDash val="solid"/>
          </a:ln>
          <a:effectLst>
            <a:outerShdw sx="100000" sy="100000" kx="0" ky="0" algn="bl" rotWithShape="0" blurRad="50800" dist="19050" dir="5400000">
              <a:srgbClr val="CFC8B6">
                <a:alpha val="50000"/>
              </a:srgbClr>
            </a:outerShdw>
          </a:effectLst>
        </p:spPr>
      </p:sp>
      <p:graphicFrame>
        <p:nvGraphicFramePr>
          <p:cNvPr id="10" name="Chart 0" descr=""/>
          <p:cNvGraphicFramePr/>
          <p:nvPr/>
        </p:nvGraphicFramePr>
        <p:xfrm>
          <a:off x="4526280" y="1417320"/>
          <a:ext cx="420624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Text 8"/>
          <p:cNvSpPr txBox="1"/>
          <p:nvPr/>
        </p:nvSpPr>
        <p:spPr>
          <a:xfrm>
            <a:off x="4526280" y="443484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470"/>
                </a:solidFill>
              </a:rPr>
              <a:t>Di atas kurva Sentinel menghemat. Rumus: presisi x kerugian/kasus &gt;= biaya telaah/kasus.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645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9A6E"/>
                </a:solidFill>
              </a:rPr>
              <a:t>BAGIAN 7 | DAMPAK &amp; NILAI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38404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</a:rPr>
              <a:t>Sebelum dan sesudah, dengan ukuran yang jelas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89611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0"/>
                </a:solidFill>
              </a:rPr>
              <a:t>Dampak nyata baru dapat dibuktikan di pilot; angka prototype di bawah berasal dari data sintetis.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3840480" cy="1691640"/>
          </a:xfrm>
          <a:prstGeom prst="rect">
            <a:avLst/>
          </a:prstGeom>
          <a:solidFill>
            <a:srgbClr val="FBE9E7"/>
          </a:solidFill>
          <a:ln w="12700">
            <a:solidFill>
              <a:srgbClr val="FBE9E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02920" y="1417320"/>
            <a:ext cx="35661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</a:rPr>
              <a:t>SEBELUM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</a:rPr>
              <a:t>Kasus ditemukan manual, per faskes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</a:rPr>
              <a:t>Sering sesudah klaim dibayar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</a:rPr>
              <a:t>Verifikator menelusuri tanpa prioritas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937760" y="1371600"/>
            <a:ext cx="3840480" cy="1691640"/>
          </a:xfrm>
          <a:prstGeom prst="rect">
            <a:avLst/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74920" y="1417320"/>
            <a:ext cx="35661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9A6E"/>
                </a:solidFill>
              </a:rPr>
              <a:t>SESUDAH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</a:rPr>
              <a:t>Antrean lintas faskes berprioritas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</a:rPr>
              <a:t>Lebih dini, dengan alasan tiap kasus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</a:rPr>
              <a:t>Verifikator fokus pada kasus berisiko tinggi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51960" y="2212848"/>
            <a:ext cx="640080" cy="0"/>
          </a:xfrm>
          <a:prstGeom prst="line">
            <a:avLst/>
          </a:prstGeom>
          <a:noFill/>
          <a:ln w="22225">
            <a:solidFill>
              <a:srgbClr val="14213D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65760" y="3246120"/>
            <a:ext cx="2011680" cy="91440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2920" y="331927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EE0BE"/>
                </a:solidFill>
              </a:rPr>
              <a:t>100%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502920" y="377647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precision@100 (sintetis)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514600" y="3246120"/>
            <a:ext cx="2011680" cy="91440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651760" y="331927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EE0BE"/>
                </a:solidFill>
              </a:rPr>
              <a:t>92.6%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2651760" y="377647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recall@540 (sintetis)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663440" y="3246120"/>
            <a:ext cx="2011680" cy="91440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00600" y="331927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EE0BE"/>
                </a:solidFill>
              </a:rPr>
              <a:t>Waktu telaah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4800600" y="377647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diukur di pilot: menit per kasus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812280" y="3246120"/>
            <a:ext cx="1965960" cy="91440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949440" y="331927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EE0BE"/>
                </a:solidFill>
              </a:rPr>
              <a:t>Cost avoidance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6949440" y="377647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dari kasus terkonfirmasi, bukan jumlah flag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365760" y="429768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</a:rPr>
              <a:t>Penerima manfaat: peserta (dana dan stok obat terjaga, tanpa blokir otomatis) | faskes (alert terarah, bukan audit menyeluruh) | BPJS (verifikator fokus pada kasus berisiko tinggi).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645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9A6E"/>
                </a:solidFill>
              </a:rPr>
              <a:t>BAGIAN 6 | RENCANA &amp; KELAYAKAN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38404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</a:rPr>
              <a:t>Peta jalan dengan deliverable terukur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89611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0"/>
                </a:solidFill>
              </a:rPr>
              <a:t>Rencana usulan tim; durasi dapat disesuaikan dengan jadwal kompetisi dan mitra.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4297680" cy="621792"/>
          </a:xfrm>
          <a:prstGeom prst="roundRect">
            <a:avLst>
              <a:gd name="adj" fmla="val 8824"/>
            </a:avLst>
          </a:prstGeom>
          <a:solidFill>
            <a:srgbClr val="1B9A6E"/>
          </a:solidFill>
          <a:ln w="12700">
            <a:solidFill>
              <a:srgbClr val="1B9A6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371600"/>
            <a:ext cx="4114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Fase 1  Prototype  (Bulan 1-2)</a:t>
            </a:r>
            <a:endParaRPr lang="en-US" sz="11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Alert obat, dashboard web, pipeline sintetis. Deliverable: demo berjalan + laporan precision@K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1737360" y="2084832"/>
            <a:ext cx="4297680" cy="621792"/>
          </a:xfrm>
          <a:prstGeom prst="roundRect">
            <a:avLst>
              <a:gd name="adj" fmla="val 8824"/>
            </a:avLst>
          </a:prstGeom>
          <a:solidFill>
            <a:srgbClr val="1B9A6E"/>
          </a:solidFill>
          <a:ln w="12700">
            <a:solidFill>
              <a:srgbClr val="1B9A6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828800" y="2084832"/>
            <a:ext cx="4114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Fase 2  Perluasan  (Bulan 3-4)</a:t>
            </a:r>
            <a:endParaRPr lang="en-US" sz="11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Pola lab/rujukan dan anomali identitas. Deliverable: 3 sub-kategori dalam satu dashboard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108960" y="2798064"/>
            <a:ext cx="4297680" cy="621792"/>
          </a:xfrm>
          <a:prstGeom prst="roundRect">
            <a:avLst>
              <a:gd name="adj" fmla="val 8824"/>
            </a:avLst>
          </a:prstGeom>
          <a:solidFill>
            <a:srgbClr val="E8912D"/>
          </a:solidFill>
          <a:ln w="12700">
            <a:solidFill>
              <a:srgbClr val="E8912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200400" y="2798064"/>
            <a:ext cx="4114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Fase 3  Pilot  (Bulan 5-8)</a:t>
            </a:r>
            <a:endParaRPr lang="en-US" sz="11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1 faskes mitra. Prasyarat: MoU, izin data, review etik. Deliverable: false-positive rate nyata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480560" y="3511296"/>
            <a:ext cx="4297680" cy="621792"/>
          </a:xfrm>
          <a:prstGeom prst="roundRect">
            <a:avLst>
              <a:gd name="adj" fmla="val 8824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0" y="3511296"/>
            <a:ext cx="4114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Fase 4  Integrasi  (Bulan 9-12)</a:t>
            </a:r>
            <a:endParaRPr lang="en-US" sz="11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Integrasi sistem BPJS, audit keamanan, SOP human review. Deliverable: dokumen kesiapan produksi</a:t>
            </a:r>
            <a:endParaRPr lang="en-US" sz="1150" dirty="0"/>
          </a:p>
        </p:txBody>
      </p:sp>
      <p:sp>
        <p:nvSpPr>
          <p:cNvPr id="13" name="card "/>
          <p:cNvSpPr/>
          <p:nvPr/>
        </p:nvSpPr>
        <p:spPr>
          <a:xfrm>
            <a:off x="365760" y="4251960"/>
            <a:ext cx="41148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6E0D0"/>
            </a:solidFill>
            <a:prstDash val="solid"/>
          </a:ln>
          <a:effectLst>
            <a:outerShdw sx="100000" sy="100000" kx="0" ky="0" algn="bl" rotWithShape="0" blurRad="50800" dist="19050" dir="5400000">
              <a:srgbClr val="CFC8B6">
                <a:alpha val="5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4251960"/>
            <a:ext cx="54864" cy="502920"/>
          </a:xfrm>
          <a:prstGeom prst="rect">
            <a:avLst/>
          </a:prstGeom>
          <a:solidFill>
            <a:srgbClr val="1B9A6E"/>
          </a:solidFill>
          <a:ln w="12700">
            <a:solidFill>
              <a:srgbClr val="1B9A6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434340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B2B2B"/>
                </a:solidFill>
              </a:rPr>
              <a:t>Sumber daya: cloud CPU ringan, mitra faskes/BPJS, tenaga klinis untuk validasi aturan</a:t>
            </a:r>
            <a:endParaRPr lang="en-US" sz="950" dirty="0"/>
          </a:p>
        </p:txBody>
      </p:sp>
      <p:sp>
        <p:nvSpPr>
          <p:cNvPr id="16" name="card "/>
          <p:cNvSpPr/>
          <p:nvPr/>
        </p:nvSpPr>
        <p:spPr>
          <a:xfrm>
            <a:off x="4663440" y="4251960"/>
            <a:ext cx="41148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6E0D0"/>
            </a:solidFill>
            <a:prstDash val="solid"/>
          </a:ln>
          <a:effectLst>
            <a:outerShdw sx="100000" sy="100000" kx="0" ky="0" algn="bl" rotWithShape="0" blurRad="50800" dist="19050" dir="5400000">
              <a:srgbClr val="CFC8B6">
                <a:alpha val="5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4251960"/>
            <a:ext cx="54864" cy="502920"/>
          </a:xfrm>
          <a:prstGeom prst="rect">
            <a:avLst/>
          </a:prstGeom>
          <a:solidFill>
            <a:srgbClr val="1B9A6E"/>
          </a:solidFill>
          <a:ln w="12700">
            <a:solidFill>
              <a:srgbClr val="1B9A6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46320" y="434340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B2B2B"/>
                </a:solidFill>
              </a:rPr>
              <a:t>Pembagian kerja: Fayad (kebutuhan &amp; domain), Nabil (backend, dashboard), Revan (model &amp; evaluasi)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645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9A6E"/>
                </a:solidFill>
              </a:rPr>
              <a:t>BAGIAN 8 | RISIKO, PRIVASI &amp; ETIKA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38404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</a:rPr>
              <a:t>Dirancang agar gagal dengan aman</a:t>
            </a:r>
            <a:endParaRPr lang="en-US" sz="2400" dirty="0"/>
          </a:p>
        </p:txBody>
      </p:sp>
      <p:sp>
        <p:nvSpPr>
          <p:cNvPr id="4" name="card Perlindungan data &amp; peran manusia (UU PDP [12])"/>
          <p:cNvSpPr/>
          <p:nvPr/>
        </p:nvSpPr>
        <p:spPr>
          <a:xfrm>
            <a:off x="365760" y="1097280"/>
            <a:ext cx="411480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6E0D0"/>
            </a:solidFill>
            <a:prstDash val="solid"/>
          </a:ln>
          <a:effectLst>
            <a:outerShdw sx="100000" sy="100000" kx="0" ky="0" algn="bl" rotWithShape="0" blurRad="50800" dist="19050" dir="5400000">
              <a:srgbClr val="CFC8B6">
                <a:alpha val="5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97280"/>
            <a:ext cx="54864" cy="1783080"/>
          </a:xfrm>
          <a:prstGeom prst="rect">
            <a:avLst/>
          </a:prstGeom>
          <a:solidFill>
            <a:srgbClr val="1B9A6E"/>
          </a:solidFill>
          <a:ln w="12700">
            <a:solidFill>
              <a:srgbClr val="1B9A6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1704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</a:rPr>
              <a:t>Perlindungan data &amp; peran manusia (UU PDP [12])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481328"/>
            <a:ext cx="3794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</a:rPr>
              <a:t>Prototype memakai data sintetis; data riil hanya dengan izin resmi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</a:rPr>
              <a:t>Minimisasi data, pseudonimisasi, akses per peran, audit log, retensi terbatas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</a:rPr>
              <a:t>Tidak ada keputusan otomatis dan tidak ada label permanen pada peserta</a:t>
            </a:r>
            <a:endParaRPr lang="en-US" sz="1050" dirty="0"/>
          </a:p>
        </p:txBody>
      </p:sp>
      <p:sp>
        <p:nvSpPr>
          <p:cNvPr id="8" name="card Bias &amp; keterbatasan AI"/>
          <p:cNvSpPr/>
          <p:nvPr/>
        </p:nvSpPr>
        <p:spPr>
          <a:xfrm>
            <a:off x="4663440" y="1097280"/>
            <a:ext cx="411480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6E0D0"/>
            </a:solidFill>
            <a:prstDash val="solid"/>
          </a:ln>
          <a:effectLst>
            <a:outerShdw sx="100000" sy="100000" kx="0" ky="0" algn="bl" rotWithShape="0" blurRad="50800" dist="19050" dir="5400000">
              <a:srgbClr val="CFC8B6">
                <a:alpha val="5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1097280"/>
            <a:ext cx="54864" cy="1783080"/>
          </a:xfrm>
          <a:prstGeom prst="rect">
            <a:avLst/>
          </a:prstGeom>
          <a:solidFill>
            <a:srgbClr val="1B9A6E"/>
          </a:solidFill>
          <a:ln w="12700">
            <a:solidFill>
              <a:srgbClr val="1B9A6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46320" y="11704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</a:rPr>
              <a:t>Bias &amp; keterbatasan AI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846320" y="1481328"/>
            <a:ext cx="3794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</a:rPr>
              <a:t>Temuan prototype: pasien kronis ter-flag lebih sering (slide 11)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</a:rPr>
              <a:t>Mitigasi terukur: normalisasi per kelompok menurunkan laju flag kronis 2,26% ke 1,1%; pantau per segmen tiap rilis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</a:rPr>
              <a:t>Anomali dibingkai "perlu verifikasi", bukan "terbukti curang"</a:t>
            </a:r>
            <a:endParaRPr lang="en-US" sz="105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063240"/>
          <a:ext cx="841248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3108960"/>
                <a:gridCol w="28346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Risiko kritis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Dampak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Mitigasi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4213D"/>
                          </a:solidFill>
                        </a:rPr>
                        <a:t>False positive dan alert fatigue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</a:rPr>
                        <a:t>Dokter mengabaikan alert; peserta sah terganggu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</a:rPr>
                        <a:t>Threshold konservatif, tombol "flag salah", precision@K dilaporkan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4213D"/>
                          </a:solidFill>
                        </a:rPr>
                        <a:t>Data lintas faskes terlambat atau tidak sinkron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</a:rPr>
                        <a:t>Flag salah atau terlambat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</a:rPr>
                        <a:t>Timestamp data selalu tampil; flag ditunda bila data belum lengkap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4213D"/>
                          </a:solidFill>
                        </a:rPr>
                        <a:t>Penyalahgunaan dashboard (kebocoran)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</a:rPr>
                        <a:t>Pelanggaran privasi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</a:rPr>
                        <a:t>Akses per peran, ringkasan pola saja, audit log dapat diperiksa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3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645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9A6E"/>
                </a:solidFill>
              </a:rPr>
              <a:t>BAGIAN 9 | PROFIL &amp; PENGALAMAN TIM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38404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</a:rPr>
              <a:t>Tiga peran yang saling menutup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89611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0"/>
                </a:solidFill>
              </a:rPr>
              <a:t>Pengalaman sesuai yang disampaikan masing-masing anggota; peran di proyek ini adalah pembagian tim.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269748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6E0D0"/>
            </a:solidFill>
            <a:prstDash val="solid"/>
          </a:ln>
          <a:effectLst>
            <a:outerShdw sx="100000" sy="100000" kx="0" ky="0" algn="bl" rotWithShape="0" blurRad="50800" dist="19050" dir="5400000">
              <a:srgbClr val="CFC8B6">
                <a:alpha val="5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280160" y="1600200"/>
            <a:ext cx="868680" cy="868680"/>
          </a:xfrm>
          <a:prstGeom prst="ellipse">
            <a:avLst/>
          </a:prstGeom>
          <a:solidFill>
            <a:srgbClr val="1B9A6E"/>
          </a:solidFill>
          <a:ln w="12700">
            <a:solidFill>
              <a:srgbClr val="1B9A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280160" y="16002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F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365760" y="256032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4213D"/>
                </a:solidFill>
              </a:rPr>
              <a:t>Fayad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365760" y="28803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9A6E"/>
                </a:solidFill>
              </a:rPr>
              <a:t>Product Owner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20040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2B2B"/>
                </a:solidFill>
              </a:rPr>
              <a:t>Pengalaman: magang di Infomedia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65760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</a:rPr>
              <a:t>Di proyek: menerjemahkan kebutuhan verifikator dan apoteker menjadi fitur; menyusun aturan domain dan metrik dampak; narasi dan prioritas produk.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0" y="1417320"/>
            <a:ext cx="269748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6E0D0"/>
            </a:solidFill>
            <a:prstDash val="solid"/>
          </a:ln>
          <a:effectLst>
            <a:outerShdw sx="100000" sy="100000" kx="0" ky="0" algn="bl" rotWithShape="0" blurRad="50800" dist="19050" dir="5400000">
              <a:srgbClr val="CFC8B6">
                <a:alpha val="5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114800" y="1600200"/>
            <a:ext cx="868680" cy="868680"/>
          </a:xfrm>
          <a:prstGeom prst="ellipse">
            <a:avLst/>
          </a:prstGeom>
          <a:solidFill>
            <a:srgbClr val="1B9A6E"/>
          </a:solidFill>
          <a:ln w="12700">
            <a:solidFill>
              <a:srgbClr val="1B9A6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114800" y="16002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N</a:t>
            </a:r>
            <a:endParaRPr lang="en-US" sz="3200" dirty="0"/>
          </a:p>
        </p:txBody>
      </p:sp>
      <p:sp>
        <p:nvSpPr>
          <p:cNvPr id="15" name="Text 13"/>
          <p:cNvSpPr txBox="1"/>
          <p:nvPr/>
        </p:nvSpPr>
        <p:spPr>
          <a:xfrm>
            <a:off x="3200400" y="256032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4213D"/>
                </a:solidFill>
              </a:rPr>
              <a:t>Nabil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3200400" y="28803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9A6E"/>
                </a:solidFill>
              </a:rPr>
              <a:t>Fullstack Engineer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3383280" y="320040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2B2B"/>
                </a:solidFill>
              </a:rPr>
              <a:t>Pengalaman: magang di Bejana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3383280" y="365760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</a:rPr>
              <a:t>Di proyek: pipeline ingest, API, dashboard antrean verifikasi, manajemen akses per peran, dan keamanan.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035040" y="1417320"/>
            <a:ext cx="269748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6E0D0"/>
            </a:solidFill>
            <a:prstDash val="solid"/>
          </a:ln>
          <a:effectLst>
            <a:outerShdw sx="100000" sy="100000" kx="0" ky="0" algn="bl" rotWithShape="0" blurRad="50800" dist="19050" dir="5400000">
              <a:srgbClr val="CFC8B6">
                <a:alpha val="5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949440" y="1600200"/>
            <a:ext cx="868680" cy="868680"/>
          </a:xfrm>
          <a:prstGeom prst="ellipse">
            <a:avLst/>
          </a:prstGeom>
          <a:solidFill>
            <a:srgbClr val="1B9A6E"/>
          </a:solidFill>
          <a:ln w="12700">
            <a:solidFill>
              <a:srgbClr val="1B9A6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949440" y="16002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R</a:t>
            </a:r>
            <a:endParaRPr lang="en-US" sz="3200" dirty="0"/>
          </a:p>
        </p:txBody>
      </p:sp>
      <p:sp>
        <p:nvSpPr>
          <p:cNvPr id="22" name="Text 20"/>
          <p:cNvSpPr txBox="1"/>
          <p:nvPr/>
        </p:nvSpPr>
        <p:spPr>
          <a:xfrm>
            <a:off x="6035040" y="256032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4213D"/>
                </a:solidFill>
              </a:rPr>
              <a:t>Revan</a:t>
            </a:r>
            <a:endParaRPr lang="en-US" sz="1900" dirty="0"/>
          </a:p>
        </p:txBody>
      </p:sp>
      <p:sp>
        <p:nvSpPr>
          <p:cNvPr id="23" name="Text 21"/>
          <p:cNvSpPr txBox="1"/>
          <p:nvPr/>
        </p:nvSpPr>
        <p:spPr>
          <a:xfrm>
            <a:off x="6035040" y="28803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9A6E"/>
                </a:solidFill>
              </a:rPr>
              <a:t>AI Engineer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217920" y="320040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2B2B"/>
                </a:solidFill>
              </a:rPr>
              <a:t>Pengalaman: program magang Komdigi (AITF)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6217920" y="365760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</a:rPr>
              <a:t>Di proyek: fitur lintas faskes, Isolation Forest, generator data sintetis, evaluasi precision/recall dan fairness check.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645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9A6E"/>
                </a:solidFill>
              </a:rPr>
              <a:t>REFERENSI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38404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</a:rPr>
              <a:t>Sumber dan tautan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89611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0"/>
                </a:solidFill>
              </a:rPr>
              <a:t>Label: Resmi = regulasi pemerintah. Media = isi klaim dicocokkan dengan kutipan halaman saat penyusunan. Angka dalam slide mengikuti nomor di sini.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65760" y="1362456"/>
            <a:ext cx="594360" cy="182880"/>
          </a:xfrm>
          <a:prstGeom prst="roundRect">
            <a:avLst>
              <a:gd name="adj" fmla="val 30000"/>
            </a:avLst>
          </a:prstGeom>
          <a:solidFill>
            <a:srgbClr val="1B9A6E"/>
          </a:solidFill>
          <a:ln w="12700">
            <a:solidFill>
              <a:srgbClr val="1B9A6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65760" y="1362456"/>
            <a:ext cx="59436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Resmi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325880"/>
            <a:ext cx="7726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B2B2B"/>
                </a:solidFill>
              </a:rPr>
              <a:t>[8] Permenkes No. 16 Tahun 2019 (BN RI No. 803/2019), Lampiran Bab II-V (dibuka dan dibaca): peraturan.bpk.go.id/Download/120661/Permenkes%20Nomor%2016%20Tahun%202019.pdf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65760" y="1645920"/>
            <a:ext cx="594360" cy="182880"/>
          </a:xfrm>
          <a:prstGeom prst="roundRect">
            <a:avLst>
              <a:gd name="adj" fmla="val 30000"/>
            </a:avLst>
          </a:prstGeom>
          <a:solidFill>
            <a:srgbClr val="1B9A6E"/>
          </a:solidFill>
          <a:ln w="12700">
            <a:solidFill>
              <a:srgbClr val="1B9A6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5760" y="1645920"/>
            <a:ext cx="59436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Resmi</a:t>
            </a:r>
            <a:endParaRPr lang="en-US" sz="75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1609344"/>
            <a:ext cx="7726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B2B2B"/>
                </a:solidFill>
              </a:rPr>
              <a:t>[12] UU No. 27 Tahun 2022 tentang Pelindungan Data Pribadi: peraturan.bpk.go.id/Details/229798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365760" y="1929384"/>
            <a:ext cx="594360" cy="182880"/>
          </a:xfrm>
          <a:prstGeom prst="roundRect">
            <a:avLst>
              <a:gd name="adj" fmla="val 30000"/>
            </a:avLst>
          </a:prstGeom>
          <a:solidFill>
            <a:srgbClr val="1B9A6E"/>
          </a:solidFill>
          <a:ln w="12700">
            <a:solidFill>
              <a:srgbClr val="1B9A6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65760" y="1929384"/>
            <a:ext cx="59436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Resmi</a:t>
            </a:r>
            <a:endParaRPr lang="en-US" sz="750" dirty="0"/>
          </a:p>
        </p:txBody>
      </p:sp>
      <p:sp>
        <p:nvSpPr>
          <p:cNvPr id="13" name="Text 11"/>
          <p:cNvSpPr txBox="1"/>
          <p:nvPr/>
        </p:nvSpPr>
        <p:spPr>
          <a:xfrm>
            <a:off x="1051560" y="1892808"/>
            <a:ext cx="7726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B2B2B"/>
                </a:solidFill>
              </a:rPr>
              <a:t>[11] Brief Healthkathon 2026, BPJS Kesehatan: definisi 4 sub-kategori peserta.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365760" y="2212848"/>
            <a:ext cx="594360" cy="182880"/>
          </a:xfrm>
          <a:prstGeom prst="roundRect">
            <a:avLst>
              <a:gd name="adj" fmla="val 30000"/>
            </a:avLst>
          </a:prstGeom>
          <a:solidFill>
            <a:srgbClr val="D4D0C4"/>
          </a:solidFill>
          <a:ln w="12700">
            <a:solidFill>
              <a:srgbClr val="D4D0C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65760" y="2212848"/>
            <a:ext cx="59436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B2B2B"/>
                </a:solidFill>
              </a:rPr>
              <a:t>Media</a:t>
            </a:r>
            <a:endParaRPr lang="en-US" sz="750" dirty="0"/>
          </a:p>
        </p:txBody>
      </p:sp>
      <p:sp>
        <p:nvSpPr>
          <p:cNvPr id="16" name="Text 14"/>
          <p:cNvSpPr txBox="1"/>
          <p:nvPr/>
        </p:nvSpPr>
        <p:spPr>
          <a:xfrm>
            <a:off x="1051560" y="2176272"/>
            <a:ext cx="7726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B2B2B"/>
                </a:solidFill>
              </a:rPr>
              <a:t>[1] CNN Indonesia, 8 Jul 2026, pernyataan Dirut BPJS (Rp190 T, KPK Rp20 T, perkiraan Rp6 T): cnnindonesia.com/nasional/20260708140052-12-1378333/dirut-bpjs-kerugian-fraud-bidang-kesehatan-turun-jadi-rp6-triliun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365760" y="2496312"/>
            <a:ext cx="594360" cy="182880"/>
          </a:xfrm>
          <a:prstGeom prst="roundRect">
            <a:avLst>
              <a:gd name="adj" fmla="val 30000"/>
            </a:avLst>
          </a:prstGeom>
          <a:solidFill>
            <a:srgbClr val="D4D0C4"/>
          </a:solidFill>
          <a:ln w="12700">
            <a:solidFill>
              <a:srgbClr val="D4D0C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65760" y="2496312"/>
            <a:ext cx="59436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B2B2B"/>
                </a:solidFill>
              </a:rPr>
              <a:t>Media</a:t>
            </a:r>
            <a:endParaRPr lang="en-US" sz="750" dirty="0"/>
          </a:p>
        </p:txBody>
      </p:sp>
      <p:sp>
        <p:nvSpPr>
          <p:cNvPr id="19" name="Text 17"/>
          <p:cNvSpPr txBox="1"/>
          <p:nvPr/>
        </p:nvSpPr>
        <p:spPr>
          <a:xfrm>
            <a:off x="1051560" y="2459736"/>
            <a:ext cx="7726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B2B2B"/>
                </a:solidFill>
              </a:rPr>
              <a:t>[2] Kontan TV, 9 Jul 2026, Rp190 T untuk 286 juta peserta: tv.kontan.co.id/video/2S_8p9cg7WU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365760" y="2779776"/>
            <a:ext cx="594360" cy="182880"/>
          </a:xfrm>
          <a:prstGeom prst="roundRect">
            <a:avLst>
              <a:gd name="adj" fmla="val 30000"/>
            </a:avLst>
          </a:prstGeom>
          <a:solidFill>
            <a:srgbClr val="D4D0C4"/>
          </a:solidFill>
          <a:ln w="12700">
            <a:solidFill>
              <a:srgbClr val="D4D0C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65760" y="2779776"/>
            <a:ext cx="59436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B2B2B"/>
                </a:solidFill>
              </a:rPr>
              <a:t>Media</a:t>
            </a:r>
            <a:endParaRPr lang="en-US" sz="750" dirty="0"/>
          </a:p>
        </p:txBody>
      </p:sp>
      <p:sp>
        <p:nvSpPr>
          <p:cNvPr id="22" name="Text 20"/>
          <p:cNvSpPr txBox="1"/>
          <p:nvPr/>
        </p:nvSpPr>
        <p:spPr>
          <a:xfrm>
            <a:off x="1051560" y="2743200"/>
            <a:ext cx="7726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B2B2B"/>
                </a:solidFill>
              </a:rPr>
              <a:t>[3] Liputan6, klarifikasi BPJS atas Rp20 T dan temuan KPK Rp35 M: liputan6.com/health/read/5710931/bpjs-kesehatan-klarifikasi-dugaan-potensi-kerugian-capai-rp20-t-akibat-fraud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365760" y="3063240"/>
            <a:ext cx="594360" cy="182880"/>
          </a:xfrm>
          <a:prstGeom prst="roundRect">
            <a:avLst>
              <a:gd name="adj" fmla="val 30000"/>
            </a:avLst>
          </a:prstGeom>
          <a:solidFill>
            <a:srgbClr val="D4D0C4"/>
          </a:solidFill>
          <a:ln w="12700">
            <a:solidFill>
              <a:srgbClr val="D4D0C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65760" y="3063240"/>
            <a:ext cx="59436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B2B2B"/>
                </a:solidFill>
              </a:rPr>
              <a:t>Media</a:t>
            </a:r>
            <a:endParaRPr lang="en-US" sz="750" dirty="0"/>
          </a:p>
        </p:txBody>
      </p:sp>
      <p:sp>
        <p:nvSpPr>
          <p:cNvPr id="25" name="Text 23"/>
          <p:cNvSpPr txBox="1"/>
          <p:nvPr/>
        </p:nvSpPr>
        <p:spPr>
          <a:xfrm>
            <a:off x="1051560" y="3026664"/>
            <a:ext cx="7726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B2B2B"/>
                </a:solidFill>
              </a:rPr>
              <a:t>[4] detikHealth, potensi fraud Rp6,8 T (Jan-Okt 2025): health.detik.com/berita-detikhealth/d-8255166/fraud-layanan-jkn-capai-rp-6-8-t-tagihan-fiktif-dokter-bikin-pasien-bolak-balik-rs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365760" y="3346704"/>
            <a:ext cx="594360" cy="182880"/>
          </a:xfrm>
          <a:prstGeom prst="roundRect">
            <a:avLst>
              <a:gd name="adj" fmla="val 30000"/>
            </a:avLst>
          </a:prstGeom>
          <a:solidFill>
            <a:srgbClr val="D4D0C4"/>
          </a:solidFill>
          <a:ln w="12700">
            <a:solidFill>
              <a:srgbClr val="D4D0C4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65760" y="3346704"/>
            <a:ext cx="59436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B2B2B"/>
                </a:solidFill>
              </a:rPr>
              <a:t>Media</a:t>
            </a:r>
            <a:endParaRPr lang="en-US" sz="750" dirty="0"/>
          </a:p>
        </p:txBody>
      </p:sp>
      <p:sp>
        <p:nvSpPr>
          <p:cNvPr id="28" name="Text 26"/>
          <p:cNvSpPr txBox="1"/>
          <p:nvPr/>
        </p:nvSpPr>
        <p:spPr>
          <a:xfrm>
            <a:off x="1051560" y="3310128"/>
            <a:ext cx="7726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B2B2B"/>
                </a:solidFill>
              </a:rPr>
              <a:t>[5] detikHealth, Dirpatuhal BPJS soal tindakan berulang dan keselamatan pasien: health.detik.com/berita-detikhealth/d-8254828/bpjs-kesehatan-bakal-putus-kerjasama-hingga-setahun-buat-faskes-yang-fraud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365760" y="3630168"/>
            <a:ext cx="594360" cy="182880"/>
          </a:xfrm>
          <a:prstGeom prst="roundRect">
            <a:avLst>
              <a:gd name="adj" fmla="val 30000"/>
            </a:avLst>
          </a:prstGeom>
          <a:solidFill>
            <a:srgbClr val="D4D0C4"/>
          </a:solidFill>
          <a:ln w="12700">
            <a:solidFill>
              <a:srgbClr val="D4D0C4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65760" y="3630168"/>
            <a:ext cx="59436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B2B2B"/>
                </a:solidFill>
              </a:rPr>
              <a:t>Media</a:t>
            </a:r>
            <a:endParaRPr lang="en-US" sz="750" dirty="0"/>
          </a:p>
        </p:txBody>
      </p:sp>
      <p:sp>
        <p:nvSpPr>
          <p:cNvPr id="31" name="Text 29"/>
          <p:cNvSpPr txBox="1"/>
          <p:nvPr/>
        </p:nvSpPr>
        <p:spPr>
          <a:xfrm>
            <a:off x="1051560" y="3593592"/>
            <a:ext cx="7726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B2B2B"/>
                </a:solidFill>
              </a:rPr>
              <a:t>[6] Kareba Toraja, 23 Nov 2022, kartu JKN dipakai orang lain, kerugian Rp14 juta: kareba-toraja.com/kartunya-dipakai-berobat-orang-lain-peserta-jkn-di-tana-toraja-didenda-rp-14-juta/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365760" y="3913632"/>
            <a:ext cx="594360" cy="182880"/>
          </a:xfrm>
          <a:prstGeom prst="roundRect">
            <a:avLst>
              <a:gd name="adj" fmla="val 30000"/>
            </a:avLst>
          </a:prstGeom>
          <a:solidFill>
            <a:srgbClr val="D4D0C4"/>
          </a:solidFill>
          <a:ln w="12700">
            <a:solidFill>
              <a:srgbClr val="D4D0C4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65760" y="3913632"/>
            <a:ext cx="59436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B2B2B"/>
                </a:solidFill>
              </a:rPr>
              <a:t>Media</a:t>
            </a:r>
            <a:endParaRPr lang="en-US" sz="750" dirty="0"/>
          </a:p>
        </p:txBody>
      </p:sp>
      <p:sp>
        <p:nvSpPr>
          <p:cNvPr id="34" name="Text 32"/>
          <p:cNvSpPr txBox="1"/>
          <p:nvPr/>
        </p:nvSpPr>
        <p:spPr>
          <a:xfrm>
            <a:off x="1051560" y="3877056"/>
            <a:ext cx="7726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B2B2B"/>
                </a:solidFill>
              </a:rPr>
              <a:t>[7] Kompas.com, 9 Sep 2024, face recognition (FRISTA) dan sidik jari untuk cegah penyalahgunaan kartu: kompas.com/tren/read/2024/09/09/070000865/bpjs-kesehatan-akan-terapkan-face-recognition-pengganti-sidik-jari-untuk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365760" y="4197096"/>
            <a:ext cx="594360" cy="182880"/>
          </a:xfrm>
          <a:prstGeom prst="roundRect">
            <a:avLst>
              <a:gd name="adj" fmla="val 30000"/>
            </a:avLst>
          </a:prstGeom>
          <a:solidFill>
            <a:srgbClr val="D4D0C4"/>
          </a:solidFill>
          <a:ln w="12700">
            <a:solidFill>
              <a:srgbClr val="D4D0C4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365760" y="4197096"/>
            <a:ext cx="59436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B2B2B"/>
                </a:solidFill>
              </a:rPr>
              <a:t>Media</a:t>
            </a:r>
            <a:endParaRPr lang="en-US" sz="750" dirty="0"/>
          </a:p>
        </p:txBody>
      </p:sp>
      <p:sp>
        <p:nvSpPr>
          <p:cNvPr id="37" name="Text 35"/>
          <p:cNvSpPr txBox="1"/>
          <p:nvPr/>
        </p:nvSpPr>
        <p:spPr>
          <a:xfrm>
            <a:off x="1051560" y="4160520"/>
            <a:ext cx="7726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B2B2B"/>
                </a:solidFill>
              </a:rPr>
              <a:t>[9] ANTARA, BPJS Kesehatan memakai biometrik dan machine learning cegah fraud (artikel lama): antaranews.com/berita/1582942/bpjs-kesehatan-gunakan-biometrik-dan-machine-learning-cegah-fraud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365760" y="4480560"/>
            <a:ext cx="594360" cy="182880"/>
          </a:xfrm>
          <a:prstGeom prst="roundRect">
            <a:avLst>
              <a:gd name="adj" fmla="val 30000"/>
            </a:avLst>
          </a:prstGeom>
          <a:solidFill>
            <a:srgbClr val="E8912D"/>
          </a:solidFill>
          <a:ln w="12700">
            <a:solidFill>
              <a:srgbClr val="E8912D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365760" y="4480560"/>
            <a:ext cx="59436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Salinan</a:t>
            </a:r>
            <a:endParaRPr lang="en-US" sz="750" dirty="0"/>
          </a:p>
        </p:txBody>
      </p:sp>
      <p:sp>
        <p:nvSpPr>
          <p:cNvPr id="40" name="Text 38"/>
          <p:cNvSpPr txBox="1"/>
          <p:nvPr/>
        </p:nvSpPr>
        <p:spPr>
          <a:xfrm>
            <a:off x="1051560" y="4443984"/>
            <a:ext cx="7726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B2B2B"/>
                </a:solidFill>
              </a:rPr>
              <a:t>[10] Buku FAQ Panduan Layanan Faskes (obat rujuk balik 30 hari), salinan pihak ketiga: manuver.tireg7.net/wp-content/uploads/2025/01/Buku-FAQ-Panduan-Layanan-Fasilitas-Kesehatan-ok.pdf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JKN Sentinel - Healthkathon 2026</dc:title>
  <dc:subject>PptxGenJS Presentation</dc:subject>
  <dc:creator>Tim JKN Sentinel</dc:creator>
  <cp:lastModifiedBy>Tim JKN Sentinel</cp:lastModifiedBy>
  <cp:revision>1</cp:revision>
  <dcterms:created xsi:type="dcterms:W3CDTF">2026-10-04T15:27:03Z</dcterms:created>
  <dcterms:modified xsi:type="dcterms:W3CDTF">2026-10-04T15:27:03Z</dcterms:modified>
</cp:coreProperties>
</file>